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x="18288000" cy="10287000"/>
  <p:notesSz cx="6858000" cy="9144000"/>
  <p:embeddedFontLst>
    <p:embeddedFont>
      <p:font typeface="Muli Heavy" charset="1" panose="00000A00000000000000"/>
      <p:regular r:id="rId19"/>
    </p:embeddedFont>
    <p:embeddedFont>
      <p:font typeface="TT Interphases" charset="1" panose="02000503020000020004"/>
      <p:regular r:id="rId20"/>
    </p:embeddedFont>
    <p:embeddedFont>
      <p:font typeface="TT Interphases Bold" charset="1" panose="02000803060000020004"/>
      <p:regular r:id="rId21"/>
    </p:embeddedFont>
    <p:embeddedFont>
      <p:font typeface="Muli Ultra-Bold" charset="1" panose="000009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4.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5.png" Type="http://schemas.openxmlformats.org/officeDocument/2006/relationships/image"/><Relationship Id="rId4" Target="../media/image6.png" Type="http://schemas.openxmlformats.org/officeDocument/2006/relationships/image"/><Relationship Id="rId5" Target="../media/image7.png" Type="http://schemas.openxmlformats.org/officeDocument/2006/relationships/image"/><Relationship Id="rId6" Target="../media/image8.png" Type="http://schemas.openxmlformats.org/officeDocument/2006/relationships/image"/><Relationship Id="rId7" Target="../media/image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10.jpe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1.jpeg" Type="http://schemas.openxmlformats.org/officeDocument/2006/relationships/image"/><Relationship Id="rId3" Target="../media/image5.png" Type="http://schemas.openxmlformats.org/officeDocument/2006/relationships/image"/><Relationship Id="rId4" Target="../media/image12.png" Type="http://schemas.openxmlformats.org/officeDocument/2006/relationships/image"/><Relationship Id="rId5" Target="../media/image13.png" Type="http://schemas.openxmlformats.org/officeDocument/2006/relationships/image"/><Relationship Id="rId6" Target="../media/image14.png" Type="http://schemas.openxmlformats.org/officeDocument/2006/relationships/image"/><Relationship Id="rId7" Target="../media/image9.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2376901">
            <a:off x="6025872" y="-1562825"/>
            <a:ext cx="13552631" cy="21642251"/>
            <a:chOff x="0" y="0"/>
            <a:chExt cx="3569417" cy="5700017"/>
          </a:xfrm>
        </p:grpSpPr>
        <p:sp>
          <p:nvSpPr>
            <p:cNvPr name="Freeform 4" id="4"/>
            <p:cNvSpPr/>
            <p:nvPr/>
          </p:nvSpPr>
          <p:spPr>
            <a:xfrm flipH="false" flipV="false" rot="0">
              <a:off x="0" y="0"/>
              <a:ext cx="3569417" cy="5700017"/>
            </a:xfrm>
            <a:custGeom>
              <a:avLst/>
              <a:gdLst/>
              <a:ahLst/>
              <a:cxnLst/>
              <a:rect r="r" b="b" t="t" l="l"/>
              <a:pathLst>
                <a:path h="5700017" w="3569417">
                  <a:moveTo>
                    <a:pt x="0" y="0"/>
                  </a:moveTo>
                  <a:lnTo>
                    <a:pt x="3569417" y="0"/>
                  </a:lnTo>
                  <a:lnTo>
                    <a:pt x="3569417" y="5700017"/>
                  </a:lnTo>
                  <a:lnTo>
                    <a:pt x="0" y="5700017"/>
                  </a:lnTo>
                  <a:close/>
                </a:path>
              </a:pathLst>
            </a:custGeom>
            <a:solidFill>
              <a:srgbClr val="000A1F">
                <a:alpha val="60000"/>
              </a:srgbClr>
            </a:solidFill>
          </p:spPr>
        </p:sp>
        <p:sp>
          <p:nvSpPr>
            <p:cNvPr name="TextBox 5" id="5"/>
            <p:cNvSpPr txBox="true"/>
            <p:nvPr/>
          </p:nvSpPr>
          <p:spPr>
            <a:xfrm>
              <a:off x="0" y="-38100"/>
              <a:ext cx="3569417" cy="5738117"/>
            </a:xfrm>
            <a:prstGeom prst="rect">
              <a:avLst/>
            </a:prstGeom>
          </p:spPr>
          <p:txBody>
            <a:bodyPr anchor="ctr" rtlCol="false" tIns="50800" lIns="50800" bIns="50800" rIns="50800"/>
            <a:lstStyle/>
            <a:p>
              <a:pPr algn="ctr">
                <a:lnSpc>
                  <a:spcPts val="1774"/>
                </a:lnSpc>
              </a:pPr>
            </a:p>
          </p:txBody>
        </p:sp>
      </p:grpSp>
      <p:sp>
        <p:nvSpPr>
          <p:cNvPr name="Freeform 6" id="6"/>
          <p:cNvSpPr/>
          <p:nvPr/>
        </p:nvSpPr>
        <p:spPr>
          <a:xfrm flipH="false" flipV="false" rot="0">
            <a:off x="8303237" y="1845815"/>
            <a:ext cx="1681525" cy="1791444"/>
          </a:xfrm>
          <a:custGeom>
            <a:avLst/>
            <a:gdLst/>
            <a:ahLst/>
            <a:cxnLst/>
            <a:rect r="r" b="b" t="t" l="l"/>
            <a:pathLst>
              <a:path h="1791444" w="1681525">
                <a:moveTo>
                  <a:pt x="0" y="0"/>
                </a:moveTo>
                <a:lnTo>
                  <a:pt x="1681526" y="0"/>
                </a:lnTo>
                <a:lnTo>
                  <a:pt x="1681526" y="1791444"/>
                </a:lnTo>
                <a:lnTo>
                  <a:pt x="0" y="179144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195769" y="3915744"/>
            <a:ext cx="11896462" cy="2398375"/>
          </a:xfrm>
          <a:prstGeom prst="rect">
            <a:avLst/>
          </a:prstGeom>
        </p:spPr>
        <p:txBody>
          <a:bodyPr anchor="t" rtlCol="false" tIns="0" lIns="0" bIns="0" rIns="0">
            <a:spAutoFit/>
          </a:bodyPr>
          <a:lstStyle/>
          <a:p>
            <a:pPr algn="ctr">
              <a:lnSpc>
                <a:spcPts val="19069"/>
              </a:lnSpc>
            </a:pPr>
            <a:r>
              <a:rPr lang="en-US" b="true" sz="15378" spc="292">
                <a:solidFill>
                  <a:srgbClr val="FFFFFF"/>
                </a:solidFill>
                <a:latin typeface="Muli Heavy"/>
                <a:ea typeface="Muli Heavy"/>
                <a:cs typeface="Muli Heavy"/>
                <a:sym typeface="Muli Heavy"/>
              </a:rPr>
              <a:t>FOROU</a:t>
            </a:r>
          </a:p>
        </p:txBody>
      </p:sp>
      <p:sp>
        <p:nvSpPr>
          <p:cNvPr name="TextBox 8" id="8"/>
          <p:cNvSpPr txBox="true"/>
          <p:nvPr/>
        </p:nvSpPr>
        <p:spPr>
          <a:xfrm rot="0">
            <a:off x="5230713" y="6078704"/>
            <a:ext cx="7491186" cy="773201"/>
          </a:xfrm>
          <a:prstGeom prst="rect">
            <a:avLst/>
          </a:prstGeom>
        </p:spPr>
        <p:txBody>
          <a:bodyPr anchor="t" rtlCol="false" tIns="0" lIns="0" bIns="0" rIns="0">
            <a:spAutoFit/>
          </a:bodyPr>
          <a:lstStyle/>
          <a:p>
            <a:pPr algn="ctr">
              <a:lnSpc>
                <a:spcPts val="6327"/>
              </a:lnSpc>
            </a:pPr>
            <a:r>
              <a:rPr lang="en-US" sz="4519">
                <a:solidFill>
                  <a:srgbClr val="FFFFFF"/>
                </a:solidFill>
                <a:latin typeface="TT Interphases"/>
                <a:ea typeface="TT Interphases"/>
                <a:cs typeface="TT Interphases"/>
                <a:sym typeface="TT Interphases"/>
              </a:rPr>
              <a:t>Presentación final Capstone</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5400000">
            <a:off x="5315925" y="-5730060"/>
            <a:ext cx="7656149" cy="21747120"/>
            <a:chOff x="0" y="0"/>
            <a:chExt cx="2016434" cy="5727637"/>
          </a:xfrm>
        </p:grpSpPr>
        <p:sp>
          <p:nvSpPr>
            <p:cNvPr name="Freeform 4" id="4"/>
            <p:cNvSpPr/>
            <p:nvPr/>
          </p:nvSpPr>
          <p:spPr>
            <a:xfrm flipH="false" flipV="false" rot="0">
              <a:off x="0" y="0"/>
              <a:ext cx="2016434" cy="5727636"/>
            </a:xfrm>
            <a:custGeom>
              <a:avLst/>
              <a:gdLst/>
              <a:ahLst/>
              <a:cxnLst/>
              <a:rect r="r" b="b" t="t" l="l"/>
              <a:pathLst>
                <a:path h="5727636" w="2016434">
                  <a:moveTo>
                    <a:pt x="28314" y="0"/>
                  </a:moveTo>
                  <a:lnTo>
                    <a:pt x="1988121" y="0"/>
                  </a:lnTo>
                  <a:cubicBezTo>
                    <a:pt x="1995630" y="0"/>
                    <a:pt x="2002832" y="2983"/>
                    <a:pt x="2008142" y="8293"/>
                  </a:cubicBezTo>
                  <a:cubicBezTo>
                    <a:pt x="2013452" y="13603"/>
                    <a:pt x="2016434" y="20804"/>
                    <a:pt x="2016434" y="28314"/>
                  </a:cubicBezTo>
                  <a:lnTo>
                    <a:pt x="2016434" y="5699323"/>
                  </a:lnTo>
                  <a:cubicBezTo>
                    <a:pt x="2016434" y="5706832"/>
                    <a:pt x="2013452" y="5714034"/>
                    <a:pt x="2008142" y="5719344"/>
                  </a:cubicBezTo>
                  <a:cubicBezTo>
                    <a:pt x="2002832" y="5724653"/>
                    <a:pt x="1995630" y="5727636"/>
                    <a:pt x="1988121" y="5727636"/>
                  </a:cubicBezTo>
                  <a:lnTo>
                    <a:pt x="28314" y="5727636"/>
                  </a:lnTo>
                  <a:cubicBezTo>
                    <a:pt x="20804" y="5727636"/>
                    <a:pt x="13603" y="5724653"/>
                    <a:pt x="8293" y="5719344"/>
                  </a:cubicBezTo>
                  <a:cubicBezTo>
                    <a:pt x="2983" y="5714034"/>
                    <a:pt x="0" y="5706832"/>
                    <a:pt x="0" y="5699323"/>
                  </a:cubicBezTo>
                  <a:lnTo>
                    <a:pt x="0" y="28314"/>
                  </a:lnTo>
                  <a:cubicBezTo>
                    <a:pt x="0" y="20804"/>
                    <a:pt x="2983" y="13603"/>
                    <a:pt x="8293" y="8293"/>
                  </a:cubicBezTo>
                  <a:cubicBezTo>
                    <a:pt x="13603" y="2983"/>
                    <a:pt x="20804" y="0"/>
                    <a:pt x="28314" y="0"/>
                  </a:cubicBezTo>
                  <a:close/>
                </a:path>
              </a:pathLst>
            </a:custGeom>
            <a:solidFill>
              <a:srgbClr val="000A1F">
                <a:alpha val="60000"/>
              </a:srgbClr>
            </a:solidFill>
          </p:spPr>
        </p:sp>
        <p:sp>
          <p:nvSpPr>
            <p:cNvPr name="TextBox 5" id="5"/>
            <p:cNvSpPr txBox="true"/>
            <p:nvPr/>
          </p:nvSpPr>
          <p:spPr>
            <a:xfrm>
              <a:off x="0" y="-38100"/>
              <a:ext cx="2016434" cy="5765737"/>
            </a:xfrm>
            <a:prstGeom prst="rect">
              <a:avLst/>
            </a:prstGeom>
          </p:spPr>
          <p:txBody>
            <a:bodyPr anchor="ctr" rtlCol="false" tIns="50800" lIns="50800" bIns="50800" rIns="50800"/>
            <a:lstStyle/>
            <a:p>
              <a:pPr algn="ctr">
                <a:lnSpc>
                  <a:spcPts val="1774"/>
                </a:lnSpc>
              </a:pPr>
            </a:p>
          </p:txBody>
        </p:sp>
      </p:grpSp>
      <p:sp>
        <p:nvSpPr>
          <p:cNvPr name="TextBox 6" id="6"/>
          <p:cNvSpPr txBox="true"/>
          <p:nvPr/>
        </p:nvSpPr>
        <p:spPr>
          <a:xfrm rot="0">
            <a:off x="345204" y="4557260"/>
            <a:ext cx="7088798" cy="1143905"/>
          </a:xfrm>
          <a:prstGeom prst="rect">
            <a:avLst/>
          </a:prstGeom>
        </p:spPr>
        <p:txBody>
          <a:bodyPr anchor="t" rtlCol="false" tIns="0" lIns="0" bIns="0" rIns="0">
            <a:spAutoFit/>
          </a:bodyPr>
          <a:lstStyle/>
          <a:p>
            <a:pPr algn="l" marL="0" indent="0" lvl="0">
              <a:lnSpc>
                <a:spcPts val="9079"/>
              </a:lnSpc>
              <a:spcBef>
                <a:spcPct val="0"/>
              </a:spcBef>
            </a:pPr>
            <a:r>
              <a:rPr lang="en-US" b="true" sz="7321" spc="139">
                <a:solidFill>
                  <a:srgbClr val="FFFFFF"/>
                </a:solidFill>
                <a:latin typeface="Muli Heavy"/>
                <a:ea typeface="Muli Heavy"/>
                <a:cs typeface="Muli Heavy"/>
                <a:sym typeface="Muli Heavy"/>
              </a:rPr>
              <a:t>INTEGRANTES</a:t>
            </a:r>
          </a:p>
        </p:txBody>
      </p:sp>
      <p:sp>
        <p:nvSpPr>
          <p:cNvPr name="TextBox 7" id="7"/>
          <p:cNvSpPr txBox="true"/>
          <p:nvPr/>
        </p:nvSpPr>
        <p:spPr>
          <a:xfrm rot="0">
            <a:off x="7901434" y="2506148"/>
            <a:ext cx="9796355" cy="4963521"/>
          </a:xfrm>
          <a:prstGeom prst="rect">
            <a:avLst/>
          </a:prstGeom>
        </p:spPr>
        <p:txBody>
          <a:bodyPr anchor="t" rtlCol="false" tIns="0" lIns="0" bIns="0" rIns="0">
            <a:spAutoFit/>
          </a:bodyPr>
          <a:lstStyle/>
          <a:p>
            <a:pPr algn="l">
              <a:lnSpc>
                <a:spcPts val="4362"/>
              </a:lnSpc>
            </a:pPr>
            <a:r>
              <a:rPr lang="en-US" sz="3605" b="true">
                <a:solidFill>
                  <a:srgbClr val="FFFFFF"/>
                </a:solidFill>
                <a:latin typeface="TT Interphases Bold"/>
                <a:ea typeface="TT Interphases Bold"/>
                <a:cs typeface="TT Interphases Bold"/>
                <a:sym typeface="TT Interphases Bold"/>
              </a:rPr>
              <a:t>Giovanni Oyarzun</a:t>
            </a:r>
          </a:p>
          <a:p>
            <a:pPr algn="l" marL="778355" indent="-389177" lvl="1">
              <a:lnSpc>
                <a:spcPts val="4362"/>
              </a:lnSpc>
              <a:buFont typeface="Arial"/>
              <a:buChar char="•"/>
            </a:pPr>
            <a:r>
              <a:rPr lang="en-US" sz="3605">
                <a:solidFill>
                  <a:srgbClr val="FFFFFF"/>
                </a:solidFill>
                <a:latin typeface="TT Interphases"/>
                <a:ea typeface="TT Interphases"/>
                <a:cs typeface="TT Interphases"/>
                <a:sym typeface="TT Interphases"/>
              </a:rPr>
              <a:t>Cargo: Gerente de Proyecto</a:t>
            </a:r>
          </a:p>
          <a:p>
            <a:pPr algn="l" marL="778355" indent="-389177" lvl="1">
              <a:lnSpc>
                <a:spcPts val="4362"/>
              </a:lnSpc>
              <a:buFont typeface="Arial"/>
              <a:buChar char="•"/>
            </a:pPr>
            <a:r>
              <a:rPr lang="en-US" sz="3605">
                <a:solidFill>
                  <a:srgbClr val="FFFFFF"/>
                </a:solidFill>
                <a:latin typeface="TT Interphases"/>
                <a:ea typeface="TT Interphases"/>
                <a:cs typeface="TT Interphases"/>
                <a:sym typeface="TT Interphases"/>
              </a:rPr>
              <a:t>Funciones: Documentacion y Desarrollo web</a:t>
            </a:r>
          </a:p>
          <a:p>
            <a:pPr algn="l">
              <a:lnSpc>
                <a:spcPts val="4362"/>
              </a:lnSpc>
            </a:pPr>
          </a:p>
          <a:p>
            <a:pPr algn="l">
              <a:lnSpc>
                <a:spcPts val="4362"/>
              </a:lnSpc>
            </a:pPr>
          </a:p>
          <a:p>
            <a:pPr algn="l">
              <a:lnSpc>
                <a:spcPts val="4362"/>
              </a:lnSpc>
            </a:pPr>
          </a:p>
          <a:p>
            <a:pPr algn="l">
              <a:lnSpc>
                <a:spcPts val="4362"/>
              </a:lnSpc>
            </a:pPr>
            <a:r>
              <a:rPr lang="en-US" sz="3605" b="true">
                <a:solidFill>
                  <a:srgbClr val="FFFFFF"/>
                </a:solidFill>
                <a:latin typeface="TT Interphases Bold"/>
                <a:ea typeface="TT Interphases Bold"/>
                <a:cs typeface="TT Interphases Bold"/>
                <a:sym typeface="TT Interphases Bold"/>
              </a:rPr>
              <a:t>Matias Melivilu</a:t>
            </a:r>
          </a:p>
          <a:p>
            <a:pPr algn="l" marL="778355" indent="-389177" lvl="1">
              <a:lnSpc>
                <a:spcPts val="4362"/>
              </a:lnSpc>
              <a:buFont typeface="Arial"/>
              <a:buChar char="•"/>
            </a:pPr>
            <a:r>
              <a:rPr lang="en-US" sz="3605">
                <a:solidFill>
                  <a:srgbClr val="FFFFFF"/>
                </a:solidFill>
                <a:latin typeface="TT Interphases"/>
                <a:ea typeface="TT Interphases"/>
                <a:cs typeface="TT Interphases"/>
                <a:sym typeface="TT Interphases"/>
              </a:rPr>
              <a:t>Cargo: Sub-Gerente de Proyecto</a:t>
            </a:r>
          </a:p>
          <a:p>
            <a:pPr algn="l" marL="778355" indent="-389177" lvl="1">
              <a:lnSpc>
                <a:spcPts val="4362"/>
              </a:lnSpc>
              <a:buFont typeface="Arial"/>
              <a:buChar char="•"/>
            </a:pPr>
            <a:r>
              <a:rPr lang="en-US" sz="3605">
                <a:solidFill>
                  <a:srgbClr val="FFFFFF"/>
                </a:solidFill>
                <a:latin typeface="TT Interphases"/>
                <a:ea typeface="TT Interphases"/>
                <a:cs typeface="TT Interphases"/>
                <a:sym typeface="TT Interphases"/>
              </a:rPr>
              <a:t>Funciones: Documentacion y Desarrollo web</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5400000">
            <a:off x="5023081" y="-4933188"/>
            <a:ext cx="8241838" cy="20739065"/>
            <a:chOff x="0" y="0"/>
            <a:chExt cx="2170690" cy="5462141"/>
          </a:xfrm>
        </p:grpSpPr>
        <p:sp>
          <p:nvSpPr>
            <p:cNvPr name="Freeform 4" id="4"/>
            <p:cNvSpPr/>
            <p:nvPr/>
          </p:nvSpPr>
          <p:spPr>
            <a:xfrm flipH="false" flipV="false" rot="0">
              <a:off x="0" y="0"/>
              <a:ext cx="2170690" cy="5462141"/>
            </a:xfrm>
            <a:custGeom>
              <a:avLst/>
              <a:gdLst/>
              <a:ahLst/>
              <a:cxnLst/>
              <a:rect r="r" b="b" t="t" l="l"/>
              <a:pathLst>
                <a:path h="5462141" w="2170690">
                  <a:moveTo>
                    <a:pt x="26302" y="0"/>
                  </a:moveTo>
                  <a:lnTo>
                    <a:pt x="2144388" y="0"/>
                  </a:lnTo>
                  <a:cubicBezTo>
                    <a:pt x="2158914" y="0"/>
                    <a:pt x="2170690" y="11776"/>
                    <a:pt x="2170690" y="26302"/>
                  </a:cubicBezTo>
                  <a:lnTo>
                    <a:pt x="2170690" y="5435839"/>
                  </a:lnTo>
                  <a:cubicBezTo>
                    <a:pt x="2170690" y="5450365"/>
                    <a:pt x="2158914" y="5462141"/>
                    <a:pt x="2144388" y="5462141"/>
                  </a:cubicBezTo>
                  <a:lnTo>
                    <a:pt x="26302" y="5462141"/>
                  </a:lnTo>
                  <a:cubicBezTo>
                    <a:pt x="19326" y="5462141"/>
                    <a:pt x="12636" y="5459369"/>
                    <a:pt x="7704" y="5454437"/>
                  </a:cubicBezTo>
                  <a:cubicBezTo>
                    <a:pt x="2771" y="5449505"/>
                    <a:pt x="0" y="5442815"/>
                    <a:pt x="0" y="5435839"/>
                  </a:cubicBezTo>
                  <a:lnTo>
                    <a:pt x="0" y="26302"/>
                  </a:lnTo>
                  <a:cubicBezTo>
                    <a:pt x="0" y="11776"/>
                    <a:pt x="11776" y="0"/>
                    <a:pt x="26302" y="0"/>
                  </a:cubicBezTo>
                  <a:close/>
                </a:path>
              </a:pathLst>
            </a:custGeom>
            <a:solidFill>
              <a:srgbClr val="000A1F">
                <a:alpha val="60000"/>
              </a:srgbClr>
            </a:solidFill>
          </p:spPr>
        </p:sp>
        <p:sp>
          <p:nvSpPr>
            <p:cNvPr name="TextBox 5" id="5"/>
            <p:cNvSpPr txBox="true"/>
            <p:nvPr/>
          </p:nvSpPr>
          <p:spPr>
            <a:xfrm>
              <a:off x="0" y="-38100"/>
              <a:ext cx="2170690" cy="5500241"/>
            </a:xfrm>
            <a:prstGeom prst="rect">
              <a:avLst/>
            </a:prstGeom>
          </p:spPr>
          <p:txBody>
            <a:bodyPr anchor="ctr" rtlCol="false" tIns="50800" lIns="50800" bIns="50800" rIns="50800"/>
            <a:lstStyle/>
            <a:p>
              <a:pPr algn="ctr">
                <a:lnSpc>
                  <a:spcPts val="1774"/>
                </a:lnSpc>
              </a:pPr>
            </a:p>
          </p:txBody>
        </p:sp>
      </p:grpSp>
      <p:sp>
        <p:nvSpPr>
          <p:cNvPr name="TextBox 6" id="6"/>
          <p:cNvSpPr txBox="true"/>
          <p:nvPr/>
        </p:nvSpPr>
        <p:spPr>
          <a:xfrm rot="0">
            <a:off x="1028700" y="4533617"/>
            <a:ext cx="7195728" cy="4482465"/>
          </a:xfrm>
          <a:prstGeom prst="rect">
            <a:avLst/>
          </a:prstGeom>
        </p:spPr>
        <p:txBody>
          <a:bodyPr anchor="t" rtlCol="false" tIns="0" lIns="0" bIns="0" rIns="0">
            <a:spAutoFit/>
          </a:bodyPr>
          <a:lstStyle/>
          <a:p>
            <a:pPr algn="just">
              <a:lnSpc>
                <a:spcPts val="4615"/>
              </a:lnSpc>
            </a:pPr>
            <a:r>
              <a:rPr lang="en-US" sz="2867" b="true">
                <a:solidFill>
                  <a:srgbClr val="FFFFFF"/>
                </a:solidFill>
                <a:latin typeface="TT Interphases Bold"/>
                <a:ea typeface="TT Interphases Bold"/>
                <a:cs typeface="TT Interphases Bold"/>
                <a:sym typeface="TT Interphases Bold"/>
              </a:rPr>
              <a:t>OPORTUNIDAD</a:t>
            </a:r>
          </a:p>
          <a:p>
            <a:pPr algn="just" marL="0" indent="0" lvl="1">
              <a:lnSpc>
                <a:spcPts val="4454"/>
              </a:lnSpc>
              <a:spcBef>
                <a:spcPct val="0"/>
              </a:spcBef>
            </a:pPr>
            <a:r>
              <a:rPr lang="en-US" sz="2767">
                <a:solidFill>
                  <a:srgbClr val="FFFFFF"/>
                </a:solidFill>
                <a:latin typeface="TT Interphases"/>
                <a:ea typeface="TT Interphases"/>
                <a:cs typeface="TT Interphases"/>
                <a:sym typeface="TT Interphases"/>
              </a:rPr>
              <a:t>Du</a:t>
            </a:r>
            <a:r>
              <a:rPr lang="en-US" sz="2767" strike="noStrike" u="none">
                <a:solidFill>
                  <a:srgbClr val="FFFFFF"/>
                </a:solidFill>
                <a:latin typeface="TT Interphases"/>
                <a:ea typeface="TT Interphases"/>
                <a:cs typeface="TT Interphases"/>
                <a:sym typeface="TT Interphases"/>
              </a:rPr>
              <a:t>ocUC tiene plataformas como AVA, pero no una enfocada en la interacción entre estudiantes. Por eso, identificamos la oportunidad de crear un espacio donde los alumnos puedan compartir conocimientos, resolver dudas y potenciar el aprendizaje colaborativo.</a:t>
            </a:r>
          </a:p>
        </p:txBody>
      </p:sp>
      <p:sp>
        <p:nvSpPr>
          <p:cNvPr name="TextBox 7" id="7"/>
          <p:cNvSpPr txBox="true"/>
          <p:nvPr/>
        </p:nvSpPr>
        <p:spPr>
          <a:xfrm rot="0">
            <a:off x="2350390" y="1600284"/>
            <a:ext cx="13857538" cy="2202704"/>
          </a:xfrm>
          <a:prstGeom prst="rect">
            <a:avLst/>
          </a:prstGeom>
        </p:spPr>
        <p:txBody>
          <a:bodyPr anchor="t" rtlCol="false" tIns="0" lIns="0" bIns="0" rIns="0">
            <a:spAutoFit/>
          </a:bodyPr>
          <a:lstStyle/>
          <a:p>
            <a:pPr algn="ctr" marL="0" indent="0" lvl="0">
              <a:lnSpc>
                <a:spcPts val="8707"/>
              </a:lnSpc>
              <a:spcBef>
                <a:spcPct val="0"/>
              </a:spcBef>
            </a:pPr>
            <a:r>
              <a:rPr lang="en-US" b="true" sz="7021" spc="133">
                <a:solidFill>
                  <a:srgbClr val="FFFFFF"/>
                </a:solidFill>
                <a:latin typeface="Muli Heavy"/>
                <a:ea typeface="Muli Heavy"/>
                <a:cs typeface="Muli Heavy"/>
                <a:sym typeface="Muli Heavy"/>
              </a:rPr>
              <a:t>DESCRIPCIÓN DEL PROYECTO</a:t>
            </a:r>
          </a:p>
        </p:txBody>
      </p:sp>
      <p:sp>
        <p:nvSpPr>
          <p:cNvPr name="TextBox 8" id="8"/>
          <p:cNvSpPr txBox="true"/>
          <p:nvPr/>
        </p:nvSpPr>
        <p:spPr>
          <a:xfrm rot="0">
            <a:off x="10063572" y="4533617"/>
            <a:ext cx="7195728" cy="2706497"/>
          </a:xfrm>
          <a:prstGeom prst="rect">
            <a:avLst/>
          </a:prstGeom>
        </p:spPr>
        <p:txBody>
          <a:bodyPr anchor="t" rtlCol="false" tIns="0" lIns="0" bIns="0" rIns="0">
            <a:spAutoFit/>
          </a:bodyPr>
          <a:lstStyle/>
          <a:p>
            <a:pPr algn="just">
              <a:lnSpc>
                <a:spcPts val="4454"/>
              </a:lnSpc>
            </a:pPr>
            <a:r>
              <a:rPr lang="en-US" sz="2767" b="true">
                <a:solidFill>
                  <a:srgbClr val="FFFFFF"/>
                </a:solidFill>
                <a:latin typeface="TT Interphases Bold"/>
                <a:ea typeface="TT Interphases Bold"/>
                <a:cs typeface="TT Interphases Bold"/>
                <a:sym typeface="TT Interphases Bold"/>
              </a:rPr>
              <a:t>PROPUESTA</a:t>
            </a:r>
          </a:p>
          <a:p>
            <a:pPr algn="just" marL="0" indent="0" lvl="1">
              <a:lnSpc>
                <a:spcPts val="4293"/>
              </a:lnSpc>
              <a:spcBef>
                <a:spcPct val="0"/>
              </a:spcBef>
            </a:pPr>
            <a:r>
              <a:rPr lang="en-US" sz="2667">
                <a:solidFill>
                  <a:srgbClr val="FFFFFF"/>
                </a:solidFill>
                <a:latin typeface="TT Interphases"/>
                <a:ea typeface="TT Interphases"/>
                <a:cs typeface="TT Interphases"/>
                <a:sym typeface="TT Interphases"/>
              </a:rPr>
              <a:t>F</a:t>
            </a:r>
            <a:r>
              <a:rPr lang="en-US" sz="2667" strike="noStrike" u="none">
                <a:solidFill>
                  <a:srgbClr val="FFFFFF"/>
                </a:solidFill>
                <a:latin typeface="TT Interphases"/>
                <a:ea typeface="TT Interphases"/>
                <a:cs typeface="TT Interphases"/>
                <a:sym typeface="TT Interphases"/>
              </a:rPr>
              <a:t>oroU: Plataforma que permite hacer preguntas, responder entre pares y acceder a contenido organizado, pensado para incentivar la colaboracion entre estudiantes.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5400000">
            <a:off x="1435552" y="4109208"/>
            <a:ext cx="4742240" cy="5555944"/>
            <a:chOff x="0" y="0"/>
            <a:chExt cx="1248985" cy="1463294"/>
          </a:xfrm>
        </p:grpSpPr>
        <p:sp>
          <p:nvSpPr>
            <p:cNvPr name="Freeform 4" id="4"/>
            <p:cNvSpPr/>
            <p:nvPr/>
          </p:nvSpPr>
          <p:spPr>
            <a:xfrm flipH="false" flipV="false" rot="0">
              <a:off x="0" y="0"/>
              <a:ext cx="1248985" cy="1463294"/>
            </a:xfrm>
            <a:custGeom>
              <a:avLst/>
              <a:gdLst/>
              <a:ahLst/>
              <a:cxnLst/>
              <a:rect r="r" b="b" t="t" l="l"/>
              <a:pathLst>
                <a:path h="1463294" w="1248985">
                  <a:moveTo>
                    <a:pt x="45711" y="0"/>
                  </a:moveTo>
                  <a:lnTo>
                    <a:pt x="1203274" y="0"/>
                  </a:lnTo>
                  <a:cubicBezTo>
                    <a:pt x="1215397" y="0"/>
                    <a:pt x="1227024" y="4816"/>
                    <a:pt x="1235597" y="13389"/>
                  </a:cubicBezTo>
                  <a:cubicBezTo>
                    <a:pt x="1244169" y="21961"/>
                    <a:pt x="1248985" y="33588"/>
                    <a:pt x="1248985" y="45711"/>
                  </a:cubicBezTo>
                  <a:lnTo>
                    <a:pt x="1248985" y="1417583"/>
                  </a:lnTo>
                  <a:cubicBezTo>
                    <a:pt x="1248985" y="1442828"/>
                    <a:pt x="1228519" y="1463294"/>
                    <a:pt x="1203274" y="1463294"/>
                  </a:cubicBezTo>
                  <a:lnTo>
                    <a:pt x="45711" y="1463294"/>
                  </a:lnTo>
                  <a:cubicBezTo>
                    <a:pt x="33588" y="1463294"/>
                    <a:pt x="21961" y="1458478"/>
                    <a:pt x="13389" y="1449905"/>
                  </a:cubicBezTo>
                  <a:cubicBezTo>
                    <a:pt x="4816" y="1441333"/>
                    <a:pt x="0" y="1429706"/>
                    <a:pt x="0" y="1417583"/>
                  </a:cubicBezTo>
                  <a:lnTo>
                    <a:pt x="0" y="45711"/>
                  </a:lnTo>
                  <a:cubicBezTo>
                    <a:pt x="0" y="33588"/>
                    <a:pt x="4816" y="21961"/>
                    <a:pt x="13389" y="13389"/>
                  </a:cubicBezTo>
                  <a:cubicBezTo>
                    <a:pt x="21961" y="4816"/>
                    <a:pt x="33588" y="0"/>
                    <a:pt x="45711" y="0"/>
                  </a:cubicBezTo>
                  <a:close/>
                </a:path>
              </a:pathLst>
            </a:custGeom>
            <a:solidFill>
              <a:srgbClr val="000A1F">
                <a:alpha val="60000"/>
              </a:srgbClr>
            </a:solidFill>
          </p:spPr>
        </p:sp>
        <p:sp>
          <p:nvSpPr>
            <p:cNvPr name="TextBox 5" id="5"/>
            <p:cNvSpPr txBox="true"/>
            <p:nvPr/>
          </p:nvSpPr>
          <p:spPr>
            <a:xfrm>
              <a:off x="0" y="-38100"/>
              <a:ext cx="1248985" cy="1501394"/>
            </a:xfrm>
            <a:prstGeom prst="rect">
              <a:avLst/>
            </a:prstGeom>
          </p:spPr>
          <p:txBody>
            <a:bodyPr anchor="ctr" rtlCol="false" tIns="50800" lIns="50800" bIns="50800" rIns="50800"/>
            <a:lstStyle/>
            <a:p>
              <a:pPr algn="ctr">
                <a:lnSpc>
                  <a:spcPts val="1774"/>
                </a:lnSpc>
              </a:pPr>
            </a:p>
          </p:txBody>
        </p:sp>
      </p:grpSp>
      <p:grpSp>
        <p:nvGrpSpPr>
          <p:cNvPr name="Group 6" id="6"/>
          <p:cNvGrpSpPr/>
          <p:nvPr/>
        </p:nvGrpSpPr>
        <p:grpSpPr>
          <a:xfrm rot="5400000">
            <a:off x="10380148" y="2379148"/>
            <a:ext cx="4742240" cy="9016063"/>
            <a:chOff x="0" y="0"/>
            <a:chExt cx="1248985" cy="2374601"/>
          </a:xfrm>
        </p:grpSpPr>
        <p:sp>
          <p:nvSpPr>
            <p:cNvPr name="Freeform 7" id="7"/>
            <p:cNvSpPr/>
            <p:nvPr/>
          </p:nvSpPr>
          <p:spPr>
            <a:xfrm flipH="false" flipV="false" rot="0">
              <a:off x="0" y="0"/>
              <a:ext cx="1248985" cy="2374601"/>
            </a:xfrm>
            <a:custGeom>
              <a:avLst/>
              <a:gdLst/>
              <a:ahLst/>
              <a:cxnLst/>
              <a:rect r="r" b="b" t="t" l="l"/>
              <a:pathLst>
                <a:path h="2374601" w="1248985">
                  <a:moveTo>
                    <a:pt x="45711" y="0"/>
                  </a:moveTo>
                  <a:lnTo>
                    <a:pt x="1203274" y="0"/>
                  </a:lnTo>
                  <a:cubicBezTo>
                    <a:pt x="1215397" y="0"/>
                    <a:pt x="1227024" y="4816"/>
                    <a:pt x="1235597" y="13389"/>
                  </a:cubicBezTo>
                  <a:cubicBezTo>
                    <a:pt x="1244169" y="21961"/>
                    <a:pt x="1248985" y="33588"/>
                    <a:pt x="1248985" y="45711"/>
                  </a:cubicBezTo>
                  <a:lnTo>
                    <a:pt x="1248985" y="2328890"/>
                  </a:lnTo>
                  <a:cubicBezTo>
                    <a:pt x="1248985" y="2341013"/>
                    <a:pt x="1244169" y="2352640"/>
                    <a:pt x="1235597" y="2361213"/>
                  </a:cubicBezTo>
                  <a:cubicBezTo>
                    <a:pt x="1227024" y="2369785"/>
                    <a:pt x="1215397" y="2374601"/>
                    <a:pt x="1203274" y="2374601"/>
                  </a:cubicBezTo>
                  <a:lnTo>
                    <a:pt x="45711" y="2374601"/>
                  </a:lnTo>
                  <a:cubicBezTo>
                    <a:pt x="20466" y="2374601"/>
                    <a:pt x="0" y="2354136"/>
                    <a:pt x="0" y="2328890"/>
                  </a:cubicBezTo>
                  <a:lnTo>
                    <a:pt x="0" y="45711"/>
                  </a:lnTo>
                  <a:cubicBezTo>
                    <a:pt x="0" y="33588"/>
                    <a:pt x="4816" y="21961"/>
                    <a:pt x="13389" y="13389"/>
                  </a:cubicBezTo>
                  <a:cubicBezTo>
                    <a:pt x="21961" y="4816"/>
                    <a:pt x="33588" y="0"/>
                    <a:pt x="45711" y="0"/>
                  </a:cubicBezTo>
                  <a:close/>
                </a:path>
              </a:pathLst>
            </a:custGeom>
            <a:solidFill>
              <a:srgbClr val="000A1F">
                <a:alpha val="60000"/>
              </a:srgbClr>
            </a:solidFill>
          </p:spPr>
        </p:sp>
        <p:sp>
          <p:nvSpPr>
            <p:cNvPr name="TextBox 8" id="8"/>
            <p:cNvSpPr txBox="true"/>
            <p:nvPr/>
          </p:nvSpPr>
          <p:spPr>
            <a:xfrm>
              <a:off x="0" y="-38100"/>
              <a:ext cx="1248985" cy="2412701"/>
            </a:xfrm>
            <a:prstGeom prst="rect">
              <a:avLst/>
            </a:prstGeom>
          </p:spPr>
          <p:txBody>
            <a:bodyPr anchor="ctr" rtlCol="false" tIns="50800" lIns="50800" bIns="50800" rIns="50800"/>
            <a:lstStyle/>
            <a:p>
              <a:pPr algn="ctr">
                <a:lnSpc>
                  <a:spcPts val="1774"/>
                </a:lnSpc>
              </a:pPr>
            </a:p>
          </p:txBody>
        </p:sp>
      </p:grpSp>
      <p:grpSp>
        <p:nvGrpSpPr>
          <p:cNvPr name="Group 9" id="9"/>
          <p:cNvGrpSpPr/>
          <p:nvPr/>
        </p:nvGrpSpPr>
        <p:grpSpPr>
          <a:xfrm rot="5400000">
            <a:off x="7080022" y="-3307151"/>
            <a:ext cx="4127957" cy="7135769"/>
            <a:chOff x="0" y="0"/>
            <a:chExt cx="1087198" cy="1879380"/>
          </a:xfrm>
        </p:grpSpPr>
        <p:sp>
          <p:nvSpPr>
            <p:cNvPr name="Freeform 10" id="10"/>
            <p:cNvSpPr/>
            <p:nvPr/>
          </p:nvSpPr>
          <p:spPr>
            <a:xfrm flipH="false" flipV="false" rot="0">
              <a:off x="0" y="0"/>
              <a:ext cx="1087198" cy="1879380"/>
            </a:xfrm>
            <a:custGeom>
              <a:avLst/>
              <a:gdLst/>
              <a:ahLst/>
              <a:cxnLst/>
              <a:rect r="r" b="b" t="t" l="l"/>
              <a:pathLst>
                <a:path h="1879380" w="1087198">
                  <a:moveTo>
                    <a:pt x="52514" y="0"/>
                  </a:moveTo>
                  <a:lnTo>
                    <a:pt x="1034685" y="0"/>
                  </a:lnTo>
                  <a:cubicBezTo>
                    <a:pt x="1063687" y="0"/>
                    <a:pt x="1087198" y="23511"/>
                    <a:pt x="1087198" y="52514"/>
                  </a:cubicBezTo>
                  <a:lnTo>
                    <a:pt x="1087198" y="1826866"/>
                  </a:lnTo>
                  <a:cubicBezTo>
                    <a:pt x="1087198" y="1840794"/>
                    <a:pt x="1081666" y="1854151"/>
                    <a:pt x="1071818" y="1863999"/>
                  </a:cubicBezTo>
                  <a:cubicBezTo>
                    <a:pt x="1061969" y="1873847"/>
                    <a:pt x="1048612" y="1879380"/>
                    <a:pt x="1034685" y="1879380"/>
                  </a:cubicBezTo>
                  <a:lnTo>
                    <a:pt x="52514" y="1879380"/>
                  </a:lnTo>
                  <a:cubicBezTo>
                    <a:pt x="23511" y="1879380"/>
                    <a:pt x="0" y="1855869"/>
                    <a:pt x="0" y="1826866"/>
                  </a:cubicBezTo>
                  <a:lnTo>
                    <a:pt x="0" y="52514"/>
                  </a:lnTo>
                  <a:cubicBezTo>
                    <a:pt x="0" y="23511"/>
                    <a:pt x="23511" y="0"/>
                    <a:pt x="52514" y="0"/>
                  </a:cubicBezTo>
                  <a:close/>
                </a:path>
              </a:pathLst>
            </a:custGeom>
            <a:solidFill>
              <a:srgbClr val="000A1F">
                <a:alpha val="60000"/>
              </a:srgbClr>
            </a:solidFill>
          </p:spPr>
        </p:sp>
        <p:sp>
          <p:nvSpPr>
            <p:cNvPr name="TextBox 11" id="11"/>
            <p:cNvSpPr txBox="true"/>
            <p:nvPr/>
          </p:nvSpPr>
          <p:spPr>
            <a:xfrm>
              <a:off x="0" y="-38100"/>
              <a:ext cx="1087198" cy="1917480"/>
            </a:xfrm>
            <a:prstGeom prst="rect">
              <a:avLst/>
            </a:prstGeom>
          </p:spPr>
          <p:txBody>
            <a:bodyPr anchor="ctr" rtlCol="false" tIns="50800" lIns="50800" bIns="50800" rIns="50800"/>
            <a:lstStyle/>
            <a:p>
              <a:pPr algn="ctr">
                <a:lnSpc>
                  <a:spcPts val="1774"/>
                </a:lnSpc>
              </a:pPr>
            </a:p>
          </p:txBody>
        </p:sp>
      </p:grpSp>
      <p:sp>
        <p:nvSpPr>
          <p:cNvPr name="TextBox 12" id="12"/>
          <p:cNvSpPr txBox="true"/>
          <p:nvPr/>
        </p:nvSpPr>
        <p:spPr>
          <a:xfrm rot="0">
            <a:off x="1351930" y="5038725"/>
            <a:ext cx="4879449" cy="2894457"/>
          </a:xfrm>
          <a:prstGeom prst="rect">
            <a:avLst/>
          </a:prstGeom>
        </p:spPr>
        <p:txBody>
          <a:bodyPr anchor="t" rtlCol="false" tIns="0" lIns="0" bIns="0" rIns="0">
            <a:spAutoFit/>
          </a:bodyPr>
          <a:lstStyle/>
          <a:p>
            <a:pPr algn="just">
              <a:lnSpc>
                <a:spcPts val="3864"/>
              </a:lnSpc>
            </a:pPr>
            <a:r>
              <a:rPr lang="en-US" sz="2400">
                <a:solidFill>
                  <a:srgbClr val="FFFFFF"/>
                </a:solidFill>
                <a:latin typeface="TT Interphases"/>
                <a:ea typeface="TT Interphases"/>
                <a:cs typeface="TT Interphases"/>
                <a:sym typeface="TT Interphases"/>
              </a:rPr>
              <a:t>Crear una plataforma académica que facilite el </a:t>
            </a:r>
            <a:r>
              <a:rPr lang="en-US" sz="2400" b="true">
                <a:solidFill>
                  <a:srgbClr val="FFFFFF"/>
                </a:solidFill>
                <a:latin typeface="TT Interphases Bold"/>
                <a:ea typeface="TT Interphases Bold"/>
                <a:cs typeface="TT Interphases Bold"/>
                <a:sym typeface="TT Interphases Bold"/>
              </a:rPr>
              <a:t>aprendizaje colaborativo</a:t>
            </a:r>
            <a:r>
              <a:rPr lang="en-US" sz="2400">
                <a:solidFill>
                  <a:srgbClr val="FFFFFF"/>
                </a:solidFill>
                <a:latin typeface="TT Interphases"/>
                <a:ea typeface="TT Interphases"/>
                <a:cs typeface="TT Interphases"/>
                <a:sym typeface="TT Interphases"/>
              </a:rPr>
              <a:t> entre estudiantes de DuocUC mediante preguntas, respuestas, búsqueda de contenido y herramientas de interacción.</a:t>
            </a:r>
          </a:p>
        </p:txBody>
      </p:sp>
      <p:sp>
        <p:nvSpPr>
          <p:cNvPr name="TextBox 13" id="13"/>
          <p:cNvSpPr txBox="true"/>
          <p:nvPr/>
        </p:nvSpPr>
        <p:spPr>
          <a:xfrm rot="0">
            <a:off x="8544528" y="4736211"/>
            <a:ext cx="8358323" cy="3866007"/>
          </a:xfrm>
          <a:prstGeom prst="rect">
            <a:avLst/>
          </a:prstGeom>
        </p:spPr>
        <p:txBody>
          <a:bodyPr anchor="t" rtlCol="false" tIns="0" lIns="0" bIns="0" rIns="0">
            <a:spAutoFit/>
          </a:bodyPr>
          <a:lstStyle/>
          <a:p>
            <a:pPr algn="just" marL="518160" indent="-259080" lvl="1">
              <a:lnSpc>
                <a:spcPts val="3864"/>
              </a:lnSpc>
              <a:buFont typeface="Arial"/>
              <a:buChar char="•"/>
            </a:pPr>
            <a:r>
              <a:rPr lang="en-US" b="true" sz="2400">
                <a:solidFill>
                  <a:srgbClr val="FFFFFF"/>
                </a:solidFill>
                <a:latin typeface="TT Interphases Bold"/>
                <a:ea typeface="TT Interphases Bold"/>
                <a:cs typeface="TT Interphases Bold"/>
                <a:sym typeface="TT Interphases Bold"/>
              </a:rPr>
              <a:t>Permitir</a:t>
            </a:r>
            <a:r>
              <a:rPr lang="en-US" sz="2400">
                <a:solidFill>
                  <a:srgbClr val="FFFFFF"/>
                </a:solidFill>
                <a:latin typeface="TT Interphases"/>
                <a:ea typeface="TT Interphases"/>
                <a:cs typeface="TT Interphases"/>
                <a:sym typeface="TT Interphases"/>
              </a:rPr>
              <a:t> crear, ver y responder publicaciones.</a:t>
            </a:r>
          </a:p>
          <a:p>
            <a:pPr algn="just" marL="518160" indent="-259080" lvl="1">
              <a:lnSpc>
                <a:spcPts val="3864"/>
              </a:lnSpc>
              <a:buFont typeface="Arial"/>
              <a:buChar char="•"/>
            </a:pPr>
            <a:r>
              <a:rPr lang="en-US" b="true" sz="2400">
                <a:solidFill>
                  <a:srgbClr val="FFFFFF"/>
                </a:solidFill>
                <a:latin typeface="TT Interphases Bold"/>
                <a:ea typeface="TT Interphases Bold"/>
                <a:cs typeface="TT Interphases Bold"/>
                <a:sym typeface="TT Interphases Bold"/>
              </a:rPr>
              <a:t>Implementar</a:t>
            </a:r>
            <a:r>
              <a:rPr lang="en-US" sz="2400">
                <a:solidFill>
                  <a:srgbClr val="FFFFFF"/>
                </a:solidFill>
                <a:latin typeface="TT Interphases"/>
                <a:ea typeface="TT Interphases"/>
                <a:cs typeface="TT Interphases"/>
                <a:sym typeface="TT Interphases"/>
              </a:rPr>
              <a:t> un buscador avanzado y sistema de etiquetas.</a:t>
            </a:r>
          </a:p>
          <a:p>
            <a:pPr algn="just" marL="518160" indent="-259080" lvl="1">
              <a:lnSpc>
                <a:spcPts val="3864"/>
              </a:lnSpc>
              <a:buFont typeface="Arial"/>
              <a:buChar char="•"/>
            </a:pPr>
            <a:r>
              <a:rPr lang="en-US" b="true" sz="2400">
                <a:solidFill>
                  <a:srgbClr val="FFFFFF"/>
                </a:solidFill>
                <a:latin typeface="TT Interphases Bold"/>
                <a:ea typeface="TT Interphases Bold"/>
                <a:cs typeface="TT Interphases Bold"/>
                <a:sym typeface="TT Interphases Bold"/>
              </a:rPr>
              <a:t>Integrar</a:t>
            </a:r>
            <a:r>
              <a:rPr lang="en-US" sz="2400">
                <a:solidFill>
                  <a:srgbClr val="FFFFFF"/>
                </a:solidFill>
                <a:latin typeface="TT Interphases"/>
                <a:ea typeface="TT Interphases"/>
                <a:cs typeface="TT Interphases"/>
                <a:sym typeface="TT Interphases"/>
              </a:rPr>
              <a:t> funcionalidades como gamificación, favoritos y notificaciones.</a:t>
            </a:r>
          </a:p>
          <a:p>
            <a:pPr algn="just" marL="518160" indent="-259080" lvl="1">
              <a:lnSpc>
                <a:spcPts val="3864"/>
              </a:lnSpc>
              <a:buFont typeface="Arial"/>
              <a:buChar char="•"/>
            </a:pPr>
            <a:r>
              <a:rPr lang="en-US" b="true" sz="2400">
                <a:solidFill>
                  <a:srgbClr val="FFFFFF"/>
                </a:solidFill>
                <a:latin typeface="TT Interphases Bold"/>
                <a:ea typeface="TT Interphases Bold"/>
                <a:cs typeface="TT Interphases Bold"/>
                <a:sym typeface="TT Interphases Bold"/>
              </a:rPr>
              <a:t>Construir</a:t>
            </a:r>
            <a:r>
              <a:rPr lang="en-US" sz="2400">
                <a:solidFill>
                  <a:srgbClr val="FFFFFF"/>
                </a:solidFill>
                <a:latin typeface="TT Interphases"/>
                <a:ea typeface="TT Interphases"/>
                <a:cs typeface="TT Interphases"/>
                <a:sym typeface="TT Interphases"/>
              </a:rPr>
              <a:t> el sistema de forma incremental usando Scrum.</a:t>
            </a:r>
          </a:p>
          <a:p>
            <a:pPr algn="just" marL="518160" indent="-259080" lvl="1">
              <a:lnSpc>
                <a:spcPts val="3864"/>
              </a:lnSpc>
              <a:buFont typeface="Arial"/>
              <a:buChar char="•"/>
            </a:pPr>
            <a:r>
              <a:rPr lang="en-US" b="true" sz="2400">
                <a:solidFill>
                  <a:srgbClr val="FFFFFF"/>
                </a:solidFill>
                <a:latin typeface="TT Interphases Bold"/>
                <a:ea typeface="TT Interphases Bold"/>
                <a:cs typeface="TT Interphases Bold"/>
                <a:sym typeface="TT Interphases Bold"/>
              </a:rPr>
              <a:t>Crear</a:t>
            </a:r>
            <a:r>
              <a:rPr lang="en-US" sz="2400">
                <a:solidFill>
                  <a:srgbClr val="FFFFFF"/>
                </a:solidFill>
                <a:latin typeface="TT Interphases"/>
                <a:ea typeface="TT Interphases"/>
                <a:cs typeface="TT Interphases"/>
                <a:sym typeface="TT Interphases"/>
              </a:rPr>
              <a:t> un espacio de comunidades y microvideos educativos.</a:t>
            </a:r>
          </a:p>
        </p:txBody>
      </p:sp>
      <p:sp>
        <p:nvSpPr>
          <p:cNvPr name="TextBox 14" id="14"/>
          <p:cNvSpPr txBox="true"/>
          <p:nvPr/>
        </p:nvSpPr>
        <p:spPr>
          <a:xfrm rot="0">
            <a:off x="5795706" y="513908"/>
            <a:ext cx="6696587" cy="1190019"/>
          </a:xfrm>
          <a:prstGeom prst="rect">
            <a:avLst/>
          </a:prstGeom>
        </p:spPr>
        <p:txBody>
          <a:bodyPr anchor="t" rtlCol="false" tIns="0" lIns="0" bIns="0" rIns="0">
            <a:spAutoFit/>
          </a:bodyPr>
          <a:lstStyle/>
          <a:p>
            <a:pPr algn="ctr" marL="0" indent="0" lvl="0">
              <a:lnSpc>
                <a:spcPts val="9451"/>
              </a:lnSpc>
              <a:spcBef>
                <a:spcPct val="0"/>
              </a:spcBef>
            </a:pPr>
            <a:r>
              <a:rPr lang="en-US" b="true" sz="7621" spc="144">
                <a:solidFill>
                  <a:srgbClr val="FFFFFF"/>
                </a:solidFill>
                <a:latin typeface="Muli Heavy"/>
                <a:ea typeface="Muli Heavy"/>
                <a:cs typeface="Muli Heavy"/>
                <a:sym typeface="Muli Heavy"/>
              </a:rPr>
              <a:t>OBJETIVOS</a:t>
            </a:r>
          </a:p>
        </p:txBody>
      </p:sp>
      <p:sp>
        <p:nvSpPr>
          <p:cNvPr name="TextBox 15" id="15"/>
          <p:cNvSpPr txBox="true"/>
          <p:nvPr/>
        </p:nvSpPr>
        <p:spPr>
          <a:xfrm rot="0">
            <a:off x="1652283" y="3469111"/>
            <a:ext cx="4278743" cy="931434"/>
          </a:xfrm>
          <a:prstGeom prst="rect">
            <a:avLst/>
          </a:prstGeom>
        </p:spPr>
        <p:txBody>
          <a:bodyPr anchor="t" rtlCol="false" tIns="0" lIns="0" bIns="0" rIns="0">
            <a:spAutoFit/>
          </a:bodyPr>
          <a:lstStyle/>
          <a:p>
            <a:pPr algn="ctr" marL="0" indent="0" lvl="0">
              <a:lnSpc>
                <a:spcPts val="7467"/>
              </a:lnSpc>
              <a:spcBef>
                <a:spcPct val="0"/>
              </a:spcBef>
            </a:pPr>
            <a:r>
              <a:rPr lang="en-US" b="true" sz="6021" spc="114">
                <a:solidFill>
                  <a:srgbClr val="FFFFFF"/>
                </a:solidFill>
                <a:latin typeface="Muli Heavy"/>
                <a:ea typeface="Muli Heavy"/>
                <a:cs typeface="Muli Heavy"/>
                <a:sym typeface="Muli Heavy"/>
              </a:rPr>
              <a:t>GENERAL</a:t>
            </a:r>
          </a:p>
        </p:txBody>
      </p:sp>
      <p:sp>
        <p:nvSpPr>
          <p:cNvPr name="TextBox 16" id="16"/>
          <p:cNvSpPr txBox="true"/>
          <p:nvPr/>
        </p:nvSpPr>
        <p:spPr>
          <a:xfrm rot="0">
            <a:off x="8243237" y="3469111"/>
            <a:ext cx="8904185" cy="931434"/>
          </a:xfrm>
          <a:prstGeom prst="rect">
            <a:avLst/>
          </a:prstGeom>
        </p:spPr>
        <p:txBody>
          <a:bodyPr anchor="t" rtlCol="false" tIns="0" lIns="0" bIns="0" rIns="0">
            <a:spAutoFit/>
          </a:bodyPr>
          <a:lstStyle/>
          <a:p>
            <a:pPr algn="ctr" marL="0" indent="0" lvl="0">
              <a:lnSpc>
                <a:spcPts val="7467"/>
              </a:lnSpc>
              <a:spcBef>
                <a:spcPct val="0"/>
              </a:spcBef>
            </a:pPr>
            <a:r>
              <a:rPr lang="en-US" b="true" sz="6021" spc="114">
                <a:solidFill>
                  <a:srgbClr val="FFFFFF"/>
                </a:solidFill>
                <a:latin typeface="Muli Heavy"/>
                <a:ea typeface="Muli Heavy"/>
                <a:cs typeface="Muli Heavy"/>
                <a:sym typeface="Muli Heavy"/>
              </a:rPr>
              <a:t>ESPECÍFICO</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5400000">
            <a:off x="5323702" y="-2791889"/>
            <a:ext cx="7640596" cy="20739065"/>
            <a:chOff x="0" y="0"/>
            <a:chExt cx="2012338" cy="5462141"/>
          </a:xfrm>
        </p:grpSpPr>
        <p:sp>
          <p:nvSpPr>
            <p:cNvPr name="Freeform 4" id="4"/>
            <p:cNvSpPr/>
            <p:nvPr/>
          </p:nvSpPr>
          <p:spPr>
            <a:xfrm flipH="false" flipV="false" rot="0">
              <a:off x="0" y="0"/>
              <a:ext cx="2012338" cy="5462141"/>
            </a:xfrm>
            <a:custGeom>
              <a:avLst/>
              <a:gdLst/>
              <a:ahLst/>
              <a:cxnLst/>
              <a:rect r="r" b="b" t="t" l="l"/>
              <a:pathLst>
                <a:path h="5462141" w="2012338">
                  <a:moveTo>
                    <a:pt x="28371" y="0"/>
                  </a:moveTo>
                  <a:lnTo>
                    <a:pt x="1983967" y="0"/>
                  </a:lnTo>
                  <a:cubicBezTo>
                    <a:pt x="1999636" y="0"/>
                    <a:pt x="2012338" y="12702"/>
                    <a:pt x="2012338" y="28371"/>
                  </a:cubicBezTo>
                  <a:lnTo>
                    <a:pt x="2012338" y="5433769"/>
                  </a:lnTo>
                  <a:cubicBezTo>
                    <a:pt x="2012338" y="5449438"/>
                    <a:pt x="1999636" y="5462141"/>
                    <a:pt x="1983967" y="5462141"/>
                  </a:cubicBezTo>
                  <a:lnTo>
                    <a:pt x="28371" y="5462141"/>
                  </a:lnTo>
                  <a:cubicBezTo>
                    <a:pt x="12702" y="5462141"/>
                    <a:pt x="0" y="5449438"/>
                    <a:pt x="0" y="5433769"/>
                  </a:cubicBezTo>
                  <a:lnTo>
                    <a:pt x="0" y="28371"/>
                  </a:lnTo>
                  <a:cubicBezTo>
                    <a:pt x="0" y="12702"/>
                    <a:pt x="12702" y="0"/>
                    <a:pt x="28371" y="0"/>
                  </a:cubicBezTo>
                  <a:close/>
                </a:path>
              </a:pathLst>
            </a:custGeom>
            <a:solidFill>
              <a:srgbClr val="000A1F">
                <a:alpha val="60000"/>
              </a:srgbClr>
            </a:solidFill>
          </p:spPr>
        </p:sp>
        <p:sp>
          <p:nvSpPr>
            <p:cNvPr name="TextBox 5" id="5"/>
            <p:cNvSpPr txBox="true"/>
            <p:nvPr/>
          </p:nvSpPr>
          <p:spPr>
            <a:xfrm>
              <a:off x="0" y="-38100"/>
              <a:ext cx="2012338" cy="5500241"/>
            </a:xfrm>
            <a:prstGeom prst="rect">
              <a:avLst/>
            </a:prstGeom>
          </p:spPr>
          <p:txBody>
            <a:bodyPr anchor="ctr" rtlCol="false" tIns="50800" lIns="50800" bIns="50800" rIns="50800"/>
            <a:lstStyle/>
            <a:p>
              <a:pPr algn="ctr">
                <a:lnSpc>
                  <a:spcPts val="1774"/>
                </a:lnSpc>
              </a:pPr>
            </a:p>
          </p:txBody>
        </p:sp>
      </p:grpSp>
      <p:sp>
        <p:nvSpPr>
          <p:cNvPr name="TextBox 6" id="6"/>
          <p:cNvSpPr txBox="true"/>
          <p:nvPr/>
        </p:nvSpPr>
        <p:spPr>
          <a:xfrm rot="0">
            <a:off x="1000562" y="5515457"/>
            <a:ext cx="7769029" cy="4382136"/>
          </a:xfrm>
          <a:prstGeom prst="rect">
            <a:avLst/>
          </a:prstGeom>
        </p:spPr>
        <p:txBody>
          <a:bodyPr anchor="t" rtlCol="false" tIns="0" lIns="0" bIns="0" rIns="0">
            <a:spAutoFit/>
          </a:bodyPr>
          <a:lstStyle/>
          <a:p>
            <a:pPr algn="l">
              <a:lnSpc>
                <a:spcPts val="3219"/>
              </a:lnSpc>
            </a:pPr>
            <a:r>
              <a:rPr lang="en-US" b="true" sz="1999" spc="17">
                <a:solidFill>
                  <a:srgbClr val="FFFFFF"/>
                </a:solidFill>
                <a:latin typeface="TT Interphases Bold"/>
                <a:ea typeface="TT Interphases Bold"/>
                <a:cs typeface="TT Interphases Bold"/>
                <a:sym typeface="TT Interphases Bold"/>
              </a:rPr>
              <a:t>Alcance del P</a:t>
            </a:r>
            <a:r>
              <a:rPr lang="en-US" b="true" sz="1999" spc="17" strike="noStrike" u="none">
                <a:solidFill>
                  <a:srgbClr val="FFFFFF"/>
                </a:solidFill>
                <a:latin typeface="TT Interphases Bold"/>
                <a:ea typeface="TT Interphases Bold"/>
                <a:cs typeface="TT Interphases Bold"/>
                <a:sym typeface="TT Interphases Bold"/>
              </a:rPr>
              <a:t>royecto</a:t>
            </a:r>
          </a:p>
          <a:p>
            <a:pPr algn="l" marL="431794" indent="-215897" lvl="1">
              <a:lnSpc>
                <a:spcPts val="3219"/>
              </a:lnSpc>
              <a:buFont typeface="Arial"/>
              <a:buChar char="•"/>
            </a:pPr>
            <a:r>
              <a:rPr lang="en-US" sz="1999" spc="17" strike="noStrike" u="none">
                <a:solidFill>
                  <a:srgbClr val="FFFFFF"/>
                </a:solidFill>
                <a:latin typeface="TT Interphases"/>
                <a:ea typeface="TT Interphases"/>
                <a:cs typeface="TT Interphases"/>
                <a:sym typeface="TT Interphases"/>
              </a:rPr>
              <a:t>Permite crear, visualizar y responder publicaciones académicas.</a:t>
            </a:r>
          </a:p>
          <a:p>
            <a:pPr algn="l" marL="431794" indent="-215897" lvl="1">
              <a:lnSpc>
                <a:spcPts val="3219"/>
              </a:lnSpc>
              <a:buFont typeface="Arial"/>
              <a:buChar char="•"/>
            </a:pPr>
            <a:r>
              <a:rPr lang="en-US" sz="1999" spc="17" strike="noStrike" u="none">
                <a:solidFill>
                  <a:srgbClr val="FFFFFF"/>
                </a:solidFill>
                <a:latin typeface="TT Interphases"/>
                <a:ea typeface="TT Interphases"/>
                <a:cs typeface="TT Interphases"/>
                <a:sym typeface="TT Interphases"/>
              </a:rPr>
              <a:t>Incluye sistema de búsquedas.</a:t>
            </a:r>
          </a:p>
          <a:p>
            <a:pPr algn="l" marL="431794" indent="-215897" lvl="1">
              <a:lnSpc>
                <a:spcPts val="3219"/>
              </a:lnSpc>
              <a:buFont typeface="Arial"/>
              <a:buChar char="•"/>
            </a:pPr>
            <a:r>
              <a:rPr lang="en-US" sz="1999" spc="17" strike="noStrike" u="none">
                <a:solidFill>
                  <a:srgbClr val="FFFFFF"/>
                </a:solidFill>
                <a:latin typeface="TT Interphases"/>
                <a:ea typeface="TT Interphases"/>
                <a:cs typeface="TT Interphases"/>
                <a:sym typeface="TT Interphases"/>
              </a:rPr>
              <a:t>Cuenta con autenticación con Google y GitHub.</a:t>
            </a:r>
          </a:p>
          <a:p>
            <a:pPr algn="l" marL="431794" indent="-215897" lvl="1">
              <a:lnSpc>
                <a:spcPts val="3219"/>
              </a:lnSpc>
              <a:buFont typeface="Arial"/>
              <a:buChar char="•"/>
            </a:pPr>
            <a:r>
              <a:rPr lang="en-US" sz="1999" spc="17" strike="noStrike" u="none">
                <a:solidFill>
                  <a:srgbClr val="FFFFFF"/>
                </a:solidFill>
                <a:latin typeface="TT Interphases"/>
                <a:ea typeface="TT Interphases"/>
                <a:cs typeface="TT Interphases"/>
                <a:sym typeface="TT Interphases"/>
              </a:rPr>
              <a:t>Permite interacción mediante votos, logros y guardado de favoritos.</a:t>
            </a:r>
          </a:p>
          <a:p>
            <a:pPr algn="l" marL="431794" indent="-215897" lvl="1">
              <a:lnSpc>
                <a:spcPts val="3219"/>
              </a:lnSpc>
              <a:buFont typeface="Arial"/>
              <a:buChar char="•"/>
            </a:pPr>
            <a:r>
              <a:rPr lang="en-US" sz="1999" spc="17" strike="noStrike" u="none">
                <a:solidFill>
                  <a:srgbClr val="FFFFFF"/>
                </a:solidFill>
                <a:latin typeface="TT Interphases"/>
                <a:ea typeface="TT Interphases"/>
                <a:cs typeface="TT Interphases"/>
                <a:sym typeface="TT Interphases"/>
              </a:rPr>
              <a:t>Integra notificaciones y microvideos educativos.</a:t>
            </a:r>
          </a:p>
          <a:p>
            <a:pPr algn="l" marL="431794" indent="-215897" lvl="1">
              <a:lnSpc>
                <a:spcPts val="3219"/>
              </a:lnSpc>
              <a:buFont typeface="Arial"/>
              <a:buChar char="•"/>
            </a:pPr>
            <a:r>
              <a:rPr lang="en-US" sz="1999" spc="17" strike="noStrike" u="none">
                <a:solidFill>
                  <a:srgbClr val="FFFFFF"/>
                </a:solidFill>
                <a:latin typeface="TT Interphases"/>
                <a:ea typeface="TT Interphases"/>
                <a:cs typeface="TT Interphases"/>
                <a:sym typeface="TT Interphases"/>
              </a:rPr>
              <a:t>Funciona como espacio de apoyo académico interno para promover el aprendizaje colaborativo entre estudiantes.</a:t>
            </a:r>
          </a:p>
          <a:p>
            <a:pPr algn="l" marL="431794" indent="-215897" lvl="1">
              <a:lnSpc>
                <a:spcPts val="3219"/>
              </a:lnSpc>
              <a:buFont typeface="Arial"/>
              <a:buChar char="•"/>
            </a:pPr>
            <a:r>
              <a:rPr lang="en-US" sz="1999" spc="17" strike="noStrike" u="none">
                <a:solidFill>
                  <a:srgbClr val="FFFFFF"/>
                </a:solidFill>
                <a:latin typeface="TT Interphases"/>
                <a:ea typeface="TT Interphases"/>
                <a:cs typeface="TT Interphases"/>
                <a:sym typeface="TT Interphases"/>
              </a:rPr>
              <a:t>Diseñado para incluirse en mas instituciones</a:t>
            </a:r>
          </a:p>
          <a:p>
            <a:pPr algn="l" marL="0" indent="0" lvl="0">
              <a:lnSpc>
                <a:spcPts val="3219"/>
              </a:lnSpc>
            </a:pPr>
          </a:p>
        </p:txBody>
      </p:sp>
      <p:grpSp>
        <p:nvGrpSpPr>
          <p:cNvPr name="Group 7" id="7"/>
          <p:cNvGrpSpPr/>
          <p:nvPr/>
        </p:nvGrpSpPr>
        <p:grpSpPr>
          <a:xfrm rot="0">
            <a:off x="2502575" y="4542555"/>
            <a:ext cx="4765002" cy="958615"/>
            <a:chOff x="0" y="0"/>
            <a:chExt cx="6353336" cy="1278154"/>
          </a:xfrm>
        </p:grpSpPr>
        <p:grpSp>
          <p:nvGrpSpPr>
            <p:cNvPr name="Group 8" id="8"/>
            <p:cNvGrpSpPr/>
            <p:nvPr/>
          </p:nvGrpSpPr>
          <p:grpSpPr>
            <a:xfrm rot="0">
              <a:off x="0" y="0"/>
              <a:ext cx="6353336" cy="1278154"/>
              <a:chOff x="0" y="0"/>
              <a:chExt cx="3681773" cy="740693"/>
            </a:xfrm>
          </p:grpSpPr>
          <p:sp>
            <p:nvSpPr>
              <p:cNvPr name="Freeform 9" id="9"/>
              <p:cNvSpPr/>
              <p:nvPr/>
            </p:nvSpPr>
            <p:spPr>
              <a:xfrm flipH="false" flipV="false" rot="0">
                <a:off x="0" y="0"/>
                <a:ext cx="3681773" cy="740693"/>
              </a:xfrm>
              <a:custGeom>
                <a:avLst/>
                <a:gdLst/>
                <a:ahLst/>
                <a:cxnLst/>
                <a:rect r="r" b="b" t="t" l="l"/>
                <a:pathLst>
                  <a:path h="740693" w="3681773">
                    <a:moveTo>
                      <a:pt x="48742" y="0"/>
                    </a:moveTo>
                    <a:lnTo>
                      <a:pt x="3633031" y="0"/>
                    </a:lnTo>
                    <a:cubicBezTo>
                      <a:pt x="3659950" y="0"/>
                      <a:pt x="3681773" y="21823"/>
                      <a:pt x="3681773" y="48742"/>
                    </a:cubicBezTo>
                    <a:lnTo>
                      <a:pt x="3681773" y="691951"/>
                    </a:lnTo>
                    <a:cubicBezTo>
                      <a:pt x="3681773" y="718870"/>
                      <a:pt x="3659950" y="740693"/>
                      <a:pt x="3633031" y="740693"/>
                    </a:cubicBezTo>
                    <a:lnTo>
                      <a:pt x="48742" y="740693"/>
                    </a:lnTo>
                    <a:cubicBezTo>
                      <a:pt x="21823" y="740693"/>
                      <a:pt x="0" y="718870"/>
                      <a:pt x="0" y="691951"/>
                    </a:cubicBezTo>
                    <a:lnTo>
                      <a:pt x="0" y="48742"/>
                    </a:lnTo>
                    <a:cubicBezTo>
                      <a:pt x="0" y="21823"/>
                      <a:pt x="21823" y="0"/>
                      <a:pt x="48742" y="0"/>
                    </a:cubicBezTo>
                    <a:close/>
                  </a:path>
                </a:pathLst>
              </a:custGeom>
              <a:solidFill>
                <a:srgbClr val="FFFFFF"/>
              </a:solidFill>
              <a:ln cap="rnd">
                <a:noFill/>
                <a:prstDash val="solid"/>
                <a:round/>
              </a:ln>
            </p:spPr>
          </p:sp>
          <p:sp>
            <p:nvSpPr>
              <p:cNvPr name="TextBox 10" id="10"/>
              <p:cNvSpPr txBox="true"/>
              <p:nvPr/>
            </p:nvSpPr>
            <p:spPr>
              <a:xfrm>
                <a:off x="0" y="-19050"/>
                <a:ext cx="3681773" cy="759743"/>
              </a:xfrm>
              <a:prstGeom prst="rect">
                <a:avLst/>
              </a:prstGeom>
            </p:spPr>
            <p:txBody>
              <a:bodyPr anchor="ctr" rtlCol="false" tIns="26301" lIns="26301" bIns="26301" rIns="26301"/>
              <a:lstStyle/>
              <a:p>
                <a:pPr algn="ctr">
                  <a:lnSpc>
                    <a:spcPts val="1377"/>
                  </a:lnSpc>
                </a:pPr>
              </a:p>
            </p:txBody>
          </p:sp>
        </p:grpSp>
        <p:sp>
          <p:nvSpPr>
            <p:cNvPr name="TextBox 11" id="11"/>
            <p:cNvSpPr txBox="true"/>
            <p:nvPr/>
          </p:nvSpPr>
          <p:spPr>
            <a:xfrm rot="0">
              <a:off x="181616" y="234987"/>
              <a:ext cx="5936057" cy="923335"/>
            </a:xfrm>
            <a:prstGeom prst="rect">
              <a:avLst/>
            </a:prstGeom>
          </p:spPr>
          <p:txBody>
            <a:bodyPr anchor="t" rtlCol="false" tIns="0" lIns="0" bIns="0" rIns="0">
              <a:spAutoFit/>
            </a:bodyPr>
            <a:lstStyle/>
            <a:p>
              <a:pPr algn="ctr" marL="0" indent="0" lvl="0">
                <a:lnSpc>
                  <a:spcPts val="4967"/>
                </a:lnSpc>
                <a:spcBef>
                  <a:spcPct val="0"/>
                </a:spcBef>
              </a:pPr>
              <a:r>
                <a:rPr lang="en-US" b="true" sz="5120">
                  <a:solidFill>
                    <a:srgbClr val="000A1F"/>
                  </a:solidFill>
                  <a:latin typeface="Muli Heavy"/>
                  <a:ea typeface="Muli Heavy"/>
                  <a:cs typeface="Muli Heavy"/>
                  <a:sym typeface="Muli Heavy"/>
                </a:rPr>
                <a:t>Alcance</a:t>
              </a:r>
            </a:p>
          </p:txBody>
        </p:sp>
      </p:grpSp>
      <p:sp>
        <p:nvSpPr>
          <p:cNvPr name="TextBox 12" id="12"/>
          <p:cNvSpPr txBox="true"/>
          <p:nvPr/>
        </p:nvSpPr>
        <p:spPr>
          <a:xfrm rot="0">
            <a:off x="10058097" y="5727753"/>
            <a:ext cx="7740891" cy="2781936"/>
          </a:xfrm>
          <a:prstGeom prst="rect">
            <a:avLst/>
          </a:prstGeom>
        </p:spPr>
        <p:txBody>
          <a:bodyPr anchor="t" rtlCol="false" tIns="0" lIns="0" bIns="0" rIns="0">
            <a:spAutoFit/>
          </a:bodyPr>
          <a:lstStyle/>
          <a:p>
            <a:pPr algn="l" marL="0" indent="0" lvl="0">
              <a:lnSpc>
                <a:spcPts val="3219"/>
              </a:lnSpc>
            </a:pPr>
            <a:r>
              <a:rPr lang="en-US" b="true" sz="1999" spc="17" strike="noStrike" u="none">
                <a:solidFill>
                  <a:srgbClr val="FFFFFF"/>
                </a:solidFill>
                <a:latin typeface="TT Interphases Bold"/>
                <a:ea typeface="TT Interphases Bold"/>
                <a:cs typeface="TT Interphases Bold"/>
                <a:sym typeface="TT Interphases Bold"/>
              </a:rPr>
              <a:t>Limitaciones</a:t>
            </a:r>
          </a:p>
          <a:p>
            <a:pPr algn="l" marL="431794" indent="-215897" lvl="1">
              <a:lnSpc>
                <a:spcPts val="3219"/>
              </a:lnSpc>
              <a:buFont typeface="Arial"/>
              <a:buChar char="•"/>
            </a:pPr>
            <a:r>
              <a:rPr lang="en-US" sz="1999" spc="17" strike="noStrike" u="none">
                <a:solidFill>
                  <a:srgbClr val="FFFFFF"/>
                </a:solidFill>
                <a:latin typeface="TT Interphases"/>
                <a:ea typeface="TT Interphases"/>
                <a:cs typeface="TT Interphases"/>
                <a:sym typeface="TT Interphases"/>
              </a:rPr>
              <a:t>Depende de la participación activa de los usuarios.</a:t>
            </a:r>
          </a:p>
          <a:p>
            <a:pPr algn="l" marL="431794" indent="-215897" lvl="1">
              <a:lnSpc>
                <a:spcPts val="3219"/>
              </a:lnSpc>
              <a:buFont typeface="Arial"/>
              <a:buChar char="•"/>
            </a:pPr>
            <a:r>
              <a:rPr lang="en-US" sz="1999" spc="17" strike="noStrike" u="none">
                <a:solidFill>
                  <a:srgbClr val="FFFFFF"/>
                </a:solidFill>
                <a:latin typeface="TT Interphases"/>
                <a:ea typeface="TT Interphases"/>
                <a:cs typeface="TT Interphases"/>
                <a:sym typeface="TT Interphases"/>
              </a:rPr>
              <a:t>Funciona sobre infraestructura limitada (free-tier).</a:t>
            </a:r>
          </a:p>
          <a:p>
            <a:pPr algn="l" marL="431794" indent="-215897" lvl="1">
              <a:lnSpc>
                <a:spcPts val="3219"/>
              </a:lnSpc>
              <a:buFont typeface="Arial"/>
              <a:buChar char="•"/>
            </a:pPr>
            <a:r>
              <a:rPr lang="en-US" sz="1999" spc="17" strike="noStrike" u="none">
                <a:solidFill>
                  <a:srgbClr val="FFFFFF"/>
                </a:solidFill>
                <a:latin typeface="TT Interphases"/>
                <a:ea typeface="TT Interphases"/>
                <a:cs typeface="TT Interphases"/>
                <a:sym typeface="TT Interphases"/>
              </a:rPr>
              <a:t>No cuenta con herramientas avanzadas de moderación.</a:t>
            </a:r>
          </a:p>
          <a:p>
            <a:pPr algn="l" marL="431794" indent="-215897" lvl="1">
              <a:lnSpc>
                <a:spcPts val="3219"/>
              </a:lnSpc>
              <a:buFont typeface="Arial"/>
              <a:buChar char="•"/>
            </a:pPr>
            <a:r>
              <a:rPr lang="en-US" sz="1999" spc="17" strike="noStrike" u="none">
                <a:solidFill>
                  <a:srgbClr val="FFFFFF"/>
                </a:solidFill>
                <a:latin typeface="TT Interphases"/>
                <a:ea typeface="TT Interphases"/>
                <a:cs typeface="TT Interphases"/>
                <a:sym typeface="TT Interphases"/>
              </a:rPr>
              <a:t>No está optimizada para alta escala todavía.</a:t>
            </a:r>
          </a:p>
          <a:p>
            <a:pPr algn="l" marL="431794" indent="-215897" lvl="1">
              <a:lnSpc>
                <a:spcPts val="3219"/>
              </a:lnSpc>
              <a:buFont typeface="Arial"/>
              <a:buChar char="•"/>
            </a:pPr>
            <a:r>
              <a:rPr lang="en-US" sz="1999" spc="17" strike="noStrike" u="none">
                <a:solidFill>
                  <a:srgbClr val="FFFFFF"/>
                </a:solidFill>
                <a:latin typeface="TT Interphases"/>
                <a:ea typeface="TT Interphases"/>
                <a:cs typeface="TT Interphases"/>
                <a:sym typeface="TT Interphases"/>
              </a:rPr>
              <a:t>Algunas funciones avanzadas quedan fuera del alcance actual.</a:t>
            </a:r>
          </a:p>
          <a:p>
            <a:pPr algn="l" marL="0" indent="0" lvl="0">
              <a:lnSpc>
                <a:spcPts val="3219"/>
              </a:lnSpc>
            </a:pPr>
          </a:p>
        </p:txBody>
      </p:sp>
      <p:grpSp>
        <p:nvGrpSpPr>
          <p:cNvPr name="Group 13" id="13"/>
          <p:cNvGrpSpPr/>
          <p:nvPr/>
        </p:nvGrpSpPr>
        <p:grpSpPr>
          <a:xfrm rot="0">
            <a:off x="11483827" y="4542555"/>
            <a:ext cx="4889431" cy="958615"/>
            <a:chOff x="0" y="0"/>
            <a:chExt cx="6519241" cy="1278154"/>
          </a:xfrm>
        </p:grpSpPr>
        <p:grpSp>
          <p:nvGrpSpPr>
            <p:cNvPr name="Group 14" id="14"/>
            <p:cNvGrpSpPr/>
            <p:nvPr/>
          </p:nvGrpSpPr>
          <p:grpSpPr>
            <a:xfrm rot="0">
              <a:off x="0" y="0"/>
              <a:ext cx="6519241" cy="1278154"/>
              <a:chOff x="0" y="0"/>
              <a:chExt cx="3777916" cy="740693"/>
            </a:xfrm>
          </p:grpSpPr>
          <p:sp>
            <p:nvSpPr>
              <p:cNvPr name="Freeform 15" id="15"/>
              <p:cNvSpPr/>
              <p:nvPr/>
            </p:nvSpPr>
            <p:spPr>
              <a:xfrm flipH="false" flipV="false" rot="0">
                <a:off x="0" y="0"/>
                <a:ext cx="3777916" cy="740693"/>
              </a:xfrm>
              <a:custGeom>
                <a:avLst/>
                <a:gdLst/>
                <a:ahLst/>
                <a:cxnLst/>
                <a:rect r="r" b="b" t="t" l="l"/>
                <a:pathLst>
                  <a:path h="740693" w="3777916">
                    <a:moveTo>
                      <a:pt x="47502" y="0"/>
                    </a:moveTo>
                    <a:lnTo>
                      <a:pt x="3730413" y="0"/>
                    </a:lnTo>
                    <a:cubicBezTo>
                      <a:pt x="3743012" y="0"/>
                      <a:pt x="3755094" y="5005"/>
                      <a:pt x="3764002" y="13913"/>
                    </a:cubicBezTo>
                    <a:cubicBezTo>
                      <a:pt x="3772911" y="22821"/>
                      <a:pt x="3777916" y="34904"/>
                      <a:pt x="3777916" y="47502"/>
                    </a:cubicBezTo>
                    <a:lnTo>
                      <a:pt x="3777916" y="693191"/>
                    </a:lnTo>
                    <a:cubicBezTo>
                      <a:pt x="3777916" y="719426"/>
                      <a:pt x="3756648" y="740693"/>
                      <a:pt x="3730413" y="740693"/>
                    </a:cubicBezTo>
                    <a:lnTo>
                      <a:pt x="47502" y="740693"/>
                    </a:lnTo>
                    <a:cubicBezTo>
                      <a:pt x="34904" y="740693"/>
                      <a:pt x="22821" y="735688"/>
                      <a:pt x="13913" y="726780"/>
                    </a:cubicBezTo>
                    <a:cubicBezTo>
                      <a:pt x="5005" y="717872"/>
                      <a:pt x="0" y="705789"/>
                      <a:pt x="0" y="693191"/>
                    </a:cubicBezTo>
                    <a:lnTo>
                      <a:pt x="0" y="47502"/>
                    </a:lnTo>
                    <a:cubicBezTo>
                      <a:pt x="0" y="34904"/>
                      <a:pt x="5005" y="22821"/>
                      <a:pt x="13913" y="13913"/>
                    </a:cubicBezTo>
                    <a:cubicBezTo>
                      <a:pt x="22821" y="5005"/>
                      <a:pt x="34904" y="0"/>
                      <a:pt x="47502" y="0"/>
                    </a:cubicBezTo>
                    <a:close/>
                  </a:path>
                </a:pathLst>
              </a:custGeom>
              <a:solidFill>
                <a:srgbClr val="FFFFFF"/>
              </a:solidFill>
              <a:ln cap="rnd">
                <a:noFill/>
                <a:prstDash val="solid"/>
                <a:round/>
              </a:ln>
            </p:spPr>
          </p:sp>
          <p:sp>
            <p:nvSpPr>
              <p:cNvPr name="TextBox 16" id="16"/>
              <p:cNvSpPr txBox="true"/>
              <p:nvPr/>
            </p:nvSpPr>
            <p:spPr>
              <a:xfrm>
                <a:off x="0" y="-19050"/>
                <a:ext cx="3777916" cy="759743"/>
              </a:xfrm>
              <a:prstGeom prst="rect">
                <a:avLst/>
              </a:prstGeom>
            </p:spPr>
            <p:txBody>
              <a:bodyPr anchor="ctr" rtlCol="false" tIns="26301" lIns="26301" bIns="26301" rIns="26301"/>
              <a:lstStyle/>
              <a:p>
                <a:pPr algn="ctr">
                  <a:lnSpc>
                    <a:spcPts val="1377"/>
                  </a:lnSpc>
                </a:pPr>
              </a:p>
            </p:txBody>
          </p:sp>
        </p:grpSp>
        <p:sp>
          <p:nvSpPr>
            <p:cNvPr name="TextBox 17" id="17"/>
            <p:cNvSpPr txBox="true"/>
            <p:nvPr/>
          </p:nvSpPr>
          <p:spPr>
            <a:xfrm rot="0">
              <a:off x="181616" y="234987"/>
              <a:ext cx="6116269" cy="923335"/>
            </a:xfrm>
            <a:prstGeom prst="rect">
              <a:avLst/>
            </a:prstGeom>
          </p:spPr>
          <p:txBody>
            <a:bodyPr anchor="t" rtlCol="false" tIns="0" lIns="0" bIns="0" rIns="0">
              <a:spAutoFit/>
            </a:bodyPr>
            <a:lstStyle/>
            <a:p>
              <a:pPr algn="ctr" marL="0" indent="0" lvl="0">
                <a:lnSpc>
                  <a:spcPts val="4967"/>
                </a:lnSpc>
                <a:spcBef>
                  <a:spcPct val="0"/>
                </a:spcBef>
              </a:pPr>
              <a:r>
                <a:rPr lang="en-US" b="true" sz="5120">
                  <a:solidFill>
                    <a:srgbClr val="000A1F"/>
                  </a:solidFill>
                  <a:latin typeface="Muli Heavy"/>
                  <a:ea typeface="Muli Heavy"/>
                  <a:cs typeface="Muli Heavy"/>
                  <a:sym typeface="Muli Heavy"/>
                </a:rPr>
                <a:t>Limitaciones</a:t>
              </a:r>
            </a:p>
          </p:txBody>
        </p:sp>
      </p:grpSp>
      <p:grpSp>
        <p:nvGrpSpPr>
          <p:cNvPr name="Group 18" id="18"/>
          <p:cNvGrpSpPr/>
          <p:nvPr/>
        </p:nvGrpSpPr>
        <p:grpSpPr>
          <a:xfrm rot="5400000">
            <a:off x="7080022" y="-7895613"/>
            <a:ext cx="4127957" cy="16230600"/>
            <a:chOff x="0" y="0"/>
            <a:chExt cx="1087198" cy="4274726"/>
          </a:xfrm>
        </p:grpSpPr>
        <p:sp>
          <p:nvSpPr>
            <p:cNvPr name="Freeform 19" id="19"/>
            <p:cNvSpPr/>
            <p:nvPr/>
          </p:nvSpPr>
          <p:spPr>
            <a:xfrm flipH="false" flipV="false" rot="0">
              <a:off x="0" y="0"/>
              <a:ext cx="1087198" cy="4274726"/>
            </a:xfrm>
            <a:custGeom>
              <a:avLst/>
              <a:gdLst/>
              <a:ahLst/>
              <a:cxnLst/>
              <a:rect r="r" b="b" t="t" l="l"/>
              <a:pathLst>
                <a:path h="4274726" w="1087198">
                  <a:moveTo>
                    <a:pt x="52514" y="0"/>
                  </a:moveTo>
                  <a:lnTo>
                    <a:pt x="1034685" y="0"/>
                  </a:lnTo>
                  <a:cubicBezTo>
                    <a:pt x="1063687" y="0"/>
                    <a:pt x="1087198" y="23511"/>
                    <a:pt x="1087198" y="52514"/>
                  </a:cubicBezTo>
                  <a:lnTo>
                    <a:pt x="1087198" y="4222212"/>
                  </a:lnTo>
                  <a:cubicBezTo>
                    <a:pt x="1087198" y="4236140"/>
                    <a:pt x="1081666" y="4249497"/>
                    <a:pt x="1071818" y="4259345"/>
                  </a:cubicBezTo>
                  <a:cubicBezTo>
                    <a:pt x="1061969" y="4269193"/>
                    <a:pt x="1048612" y="4274726"/>
                    <a:pt x="1034685" y="4274726"/>
                  </a:cubicBezTo>
                  <a:lnTo>
                    <a:pt x="52514" y="4274726"/>
                  </a:lnTo>
                  <a:cubicBezTo>
                    <a:pt x="38586" y="4274726"/>
                    <a:pt x="25229" y="4269193"/>
                    <a:pt x="15381" y="4259345"/>
                  </a:cubicBezTo>
                  <a:cubicBezTo>
                    <a:pt x="5533" y="4249497"/>
                    <a:pt x="0" y="4236140"/>
                    <a:pt x="0" y="4222212"/>
                  </a:cubicBezTo>
                  <a:lnTo>
                    <a:pt x="0" y="52514"/>
                  </a:lnTo>
                  <a:cubicBezTo>
                    <a:pt x="0" y="23511"/>
                    <a:pt x="23511" y="0"/>
                    <a:pt x="52514" y="0"/>
                  </a:cubicBezTo>
                  <a:close/>
                </a:path>
              </a:pathLst>
            </a:custGeom>
            <a:solidFill>
              <a:srgbClr val="000A1F">
                <a:alpha val="60000"/>
              </a:srgbClr>
            </a:solidFill>
          </p:spPr>
        </p:sp>
        <p:sp>
          <p:nvSpPr>
            <p:cNvPr name="TextBox 20" id="20"/>
            <p:cNvSpPr txBox="true"/>
            <p:nvPr/>
          </p:nvSpPr>
          <p:spPr>
            <a:xfrm>
              <a:off x="0" y="-38100"/>
              <a:ext cx="1087198" cy="4312826"/>
            </a:xfrm>
            <a:prstGeom prst="rect">
              <a:avLst/>
            </a:prstGeom>
          </p:spPr>
          <p:txBody>
            <a:bodyPr anchor="ctr" rtlCol="false" tIns="50800" lIns="50800" bIns="50800" rIns="50800"/>
            <a:lstStyle/>
            <a:p>
              <a:pPr algn="ctr">
                <a:lnSpc>
                  <a:spcPts val="1774"/>
                </a:lnSpc>
              </a:pPr>
            </a:p>
          </p:txBody>
        </p:sp>
      </p:grpSp>
      <p:sp>
        <p:nvSpPr>
          <p:cNvPr name="TextBox 21" id="21"/>
          <p:cNvSpPr txBox="true"/>
          <p:nvPr/>
        </p:nvSpPr>
        <p:spPr>
          <a:xfrm rot="0">
            <a:off x="1028700" y="472861"/>
            <a:ext cx="16230600" cy="1190006"/>
          </a:xfrm>
          <a:prstGeom prst="rect">
            <a:avLst/>
          </a:prstGeom>
        </p:spPr>
        <p:txBody>
          <a:bodyPr anchor="t" rtlCol="false" tIns="0" lIns="0" bIns="0" rIns="0">
            <a:spAutoFit/>
          </a:bodyPr>
          <a:lstStyle/>
          <a:p>
            <a:pPr algn="ctr" marL="0" indent="0" lvl="0">
              <a:lnSpc>
                <a:spcPts val="9451"/>
              </a:lnSpc>
              <a:spcBef>
                <a:spcPct val="0"/>
              </a:spcBef>
            </a:pPr>
            <a:r>
              <a:rPr lang="en-US" b="true" sz="7621" spc="144">
                <a:solidFill>
                  <a:srgbClr val="FFFFFF"/>
                </a:solidFill>
                <a:latin typeface="Muli Heavy"/>
                <a:ea typeface="Muli Heavy"/>
                <a:cs typeface="Muli Heavy"/>
                <a:sym typeface="Muli Heavy"/>
              </a:rPr>
              <a:t>ALCANCES Y LIMITACIONES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5400000">
            <a:off x="9495984" y="1802013"/>
            <a:ext cx="8131240" cy="7691173"/>
            <a:chOff x="0" y="0"/>
            <a:chExt cx="2288011" cy="2164183"/>
          </a:xfrm>
        </p:grpSpPr>
        <p:sp>
          <p:nvSpPr>
            <p:cNvPr name="Freeform 4" id="4"/>
            <p:cNvSpPr/>
            <p:nvPr/>
          </p:nvSpPr>
          <p:spPr>
            <a:xfrm flipH="false" flipV="false" rot="0">
              <a:off x="0" y="0"/>
              <a:ext cx="2288011" cy="2164183"/>
            </a:xfrm>
            <a:custGeom>
              <a:avLst/>
              <a:gdLst/>
              <a:ahLst/>
              <a:cxnLst/>
              <a:rect r="r" b="b" t="t" l="l"/>
              <a:pathLst>
                <a:path h="2164183" w="2288011">
                  <a:moveTo>
                    <a:pt x="26659" y="0"/>
                  </a:moveTo>
                  <a:lnTo>
                    <a:pt x="2261352" y="0"/>
                  </a:lnTo>
                  <a:cubicBezTo>
                    <a:pt x="2268422" y="0"/>
                    <a:pt x="2275203" y="2809"/>
                    <a:pt x="2280203" y="7808"/>
                  </a:cubicBezTo>
                  <a:cubicBezTo>
                    <a:pt x="2285203" y="12808"/>
                    <a:pt x="2288011" y="19589"/>
                    <a:pt x="2288011" y="26659"/>
                  </a:cubicBezTo>
                  <a:lnTo>
                    <a:pt x="2288011" y="2137523"/>
                  </a:lnTo>
                  <a:cubicBezTo>
                    <a:pt x="2288011" y="2144594"/>
                    <a:pt x="2285203" y="2151375"/>
                    <a:pt x="2280203" y="2156374"/>
                  </a:cubicBezTo>
                  <a:cubicBezTo>
                    <a:pt x="2275203" y="2161374"/>
                    <a:pt x="2268422" y="2164183"/>
                    <a:pt x="2261352" y="2164183"/>
                  </a:cubicBezTo>
                  <a:lnTo>
                    <a:pt x="26659" y="2164183"/>
                  </a:lnTo>
                  <a:cubicBezTo>
                    <a:pt x="19589" y="2164183"/>
                    <a:pt x="12808" y="2161374"/>
                    <a:pt x="7808" y="2156374"/>
                  </a:cubicBezTo>
                  <a:cubicBezTo>
                    <a:pt x="2809" y="2151375"/>
                    <a:pt x="0" y="2144594"/>
                    <a:pt x="0" y="2137523"/>
                  </a:cubicBezTo>
                  <a:lnTo>
                    <a:pt x="0" y="26659"/>
                  </a:lnTo>
                  <a:cubicBezTo>
                    <a:pt x="0" y="19589"/>
                    <a:pt x="2809" y="12808"/>
                    <a:pt x="7808" y="7808"/>
                  </a:cubicBezTo>
                  <a:cubicBezTo>
                    <a:pt x="12808" y="2809"/>
                    <a:pt x="19589" y="0"/>
                    <a:pt x="26659" y="0"/>
                  </a:cubicBezTo>
                  <a:close/>
                </a:path>
              </a:pathLst>
            </a:custGeom>
            <a:solidFill>
              <a:srgbClr val="000A1F">
                <a:alpha val="60000"/>
              </a:srgbClr>
            </a:solidFill>
          </p:spPr>
        </p:sp>
        <p:sp>
          <p:nvSpPr>
            <p:cNvPr name="TextBox 5" id="5"/>
            <p:cNvSpPr txBox="true"/>
            <p:nvPr/>
          </p:nvSpPr>
          <p:spPr>
            <a:xfrm>
              <a:off x="0" y="-38100"/>
              <a:ext cx="2288011" cy="2202283"/>
            </a:xfrm>
            <a:prstGeom prst="rect">
              <a:avLst/>
            </a:prstGeom>
          </p:spPr>
          <p:txBody>
            <a:bodyPr anchor="ctr" rtlCol="false" tIns="50800" lIns="50800" bIns="50800" rIns="50800"/>
            <a:lstStyle/>
            <a:p>
              <a:pPr algn="ctr">
                <a:lnSpc>
                  <a:spcPts val="1774"/>
                </a:lnSpc>
              </a:pPr>
            </a:p>
          </p:txBody>
        </p:sp>
      </p:grpSp>
      <p:sp>
        <p:nvSpPr>
          <p:cNvPr name="TextBox 6" id="6"/>
          <p:cNvSpPr txBox="true"/>
          <p:nvPr/>
        </p:nvSpPr>
        <p:spPr>
          <a:xfrm rot="0">
            <a:off x="10012854" y="2036071"/>
            <a:ext cx="7173523" cy="7794887"/>
          </a:xfrm>
          <a:prstGeom prst="rect">
            <a:avLst/>
          </a:prstGeom>
        </p:spPr>
        <p:txBody>
          <a:bodyPr anchor="t" rtlCol="false" tIns="0" lIns="0" bIns="0" rIns="0">
            <a:spAutoFit/>
          </a:bodyPr>
          <a:lstStyle/>
          <a:p>
            <a:pPr algn="just" marL="0" indent="0" lvl="0">
              <a:lnSpc>
                <a:spcPts val="3119"/>
              </a:lnSpc>
            </a:pPr>
            <a:r>
              <a:rPr lang="en-US" b="true" sz="2121">
                <a:solidFill>
                  <a:srgbClr val="FFFFFF"/>
                </a:solidFill>
                <a:latin typeface="TT Interphases Bold"/>
                <a:ea typeface="TT Interphases Bold"/>
                <a:cs typeface="TT Interphases Bold"/>
                <a:sym typeface="TT Interphases Bold"/>
              </a:rPr>
              <a:t>Sp</a:t>
            </a:r>
            <a:r>
              <a:rPr lang="en-US" b="true" sz="2121" strike="noStrike" u="none">
                <a:solidFill>
                  <a:srgbClr val="FFFFFF"/>
                </a:solidFill>
                <a:latin typeface="TT Interphases Bold"/>
                <a:ea typeface="TT Interphases Bold"/>
                <a:cs typeface="TT Interphases Bold"/>
                <a:sym typeface="TT Interphases Bold"/>
              </a:rPr>
              <a:t>rint 1 – Historias desarrolladas</a:t>
            </a:r>
          </a:p>
          <a:p>
            <a:pPr algn="just" marL="458134" indent="-229067" lvl="1">
              <a:lnSpc>
                <a:spcPts val="3119"/>
              </a:lnSpc>
              <a:buFont typeface="Arial"/>
              <a:buChar char="•"/>
            </a:pPr>
            <a:r>
              <a:rPr lang="en-US" sz="2121" strike="noStrike" u="none">
                <a:solidFill>
                  <a:srgbClr val="FFFFFF"/>
                </a:solidFill>
                <a:latin typeface="TT Interphases"/>
                <a:ea typeface="TT Interphases"/>
                <a:cs typeface="TT Interphases"/>
                <a:sym typeface="TT Interphases"/>
              </a:rPr>
              <a:t>HU1: Respuestas multimedia</a:t>
            </a:r>
          </a:p>
          <a:p>
            <a:pPr algn="just" marL="458134" indent="-229067" lvl="1">
              <a:lnSpc>
                <a:spcPts val="3119"/>
              </a:lnSpc>
              <a:buFont typeface="Arial"/>
              <a:buChar char="•"/>
            </a:pPr>
            <a:r>
              <a:rPr lang="en-US" sz="2121" strike="noStrike" u="none">
                <a:solidFill>
                  <a:srgbClr val="FFFFFF"/>
                </a:solidFill>
                <a:latin typeface="TT Interphases"/>
                <a:ea typeface="TT Interphases"/>
                <a:cs typeface="TT Interphases"/>
                <a:sym typeface="TT Interphases"/>
              </a:rPr>
              <a:t>HU2: Autenticación segura</a:t>
            </a:r>
          </a:p>
          <a:p>
            <a:pPr algn="just" marL="458134" indent="-229067" lvl="1">
              <a:lnSpc>
                <a:spcPts val="3119"/>
              </a:lnSpc>
              <a:buFont typeface="Arial"/>
              <a:buChar char="•"/>
            </a:pPr>
            <a:r>
              <a:rPr lang="en-US" sz="2121" strike="noStrike" u="none">
                <a:solidFill>
                  <a:srgbClr val="FFFFFF"/>
                </a:solidFill>
                <a:latin typeface="TT Interphases"/>
                <a:ea typeface="TT Interphases"/>
                <a:cs typeface="TT Interphases"/>
                <a:sym typeface="TT Interphases"/>
              </a:rPr>
              <a:t>HU3: Publicar post</a:t>
            </a:r>
          </a:p>
          <a:p>
            <a:pPr algn="just" marL="458134" indent="-229067" lvl="1">
              <a:lnSpc>
                <a:spcPts val="3119"/>
              </a:lnSpc>
              <a:buFont typeface="Arial"/>
              <a:buChar char="•"/>
            </a:pPr>
            <a:r>
              <a:rPr lang="en-US" sz="2121" strike="noStrike" u="none">
                <a:solidFill>
                  <a:srgbClr val="FFFFFF"/>
                </a:solidFill>
                <a:latin typeface="TT Interphases"/>
                <a:ea typeface="TT Interphases"/>
                <a:cs typeface="TT Interphases"/>
                <a:sym typeface="TT Interphases"/>
              </a:rPr>
              <a:t>HU4: Responder post</a:t>
            </a:r>
          </a:p>
          <a:p>
            <a:pPr algn="just" marL="458134" indent="-229067" lvl="1">
              <a:lnSpc>
                <a:spcPts val="3119"/>
              </a:lnSpc>
              <a:buFont typeface="Arial"/>
              <a:buChar char="•"/>
            </a:pPr>
            <a:r>
              <a:rPr lang="en-US" sz="2121" strike="noStrike" u="none">
                <a:solidFill>
                  <a:srgbClr val="FFFFFF"/>
                </a:solidFill>
                <a:latin typeface="TT Interphases"/>
                <a:ea typeface="TT Interphases"/>
                <a:cs typeface="TT Interphases"/>
                <a:sym typeface="TT Interphases"/>
              </a:rPr>
              <a:t>HU8: Búsqueda avanzada</a:t>
            </a:r>
          </a:p>
          <a:p>
            <a:pPr algn="just" marL="458134" indent="-229067" lvl="1">
              <a:lnSpc>
                <a:spcPts val="3119"/>
              </a:lnSpc>
              <a:buFont typeface="Arial"/>
              <a:buChar char="•"/>
            </a:pPr>
            <a:r>
              <a:rPr lang="en-US" sz="2121" strike="noStrike" u="none">
                <a:solidFill>
                  <a:srgbClr val="FFFFFF"/>
                </a:solidFill>
                <a:latin typeface="TT Interphases"/>
                <a:ea typeface="TT Interphases"/>
                <a:cs typeface="TT Interphases"/>
                <a:sym typeface="TT Interphases"/>
              </a:rPr>
              <a:t>HU12: Conexión con GitHub</a:t>
            </a:r>
          </a:p>
          <a:p>
            <a:pPr algn="just" marL="458134" indent="-229067" lvl="1">
              <a:lnSpc>
                <a:spcPts val="3119"/>
              </a:lnSpc>
              <a:buFont typeface="Arial"/>
              <a:buChar char="•"/>
            </a:pPr>
            <a:r>
              <a:rPr lang="en-US" sz="2121" strike="noStrike" u="none">
                <a:solidFill>
                  <a:srgbClr val="FFFFFF"/>
                </a:solidFill>
                <a:latin typeface="TT Interphases"/>
                <a:ea typeface="TT Interphases"/>
                <a:cs typeface="TT Interphases"/>
                <a:sym typeface="TT Interphases"/>
              </a:rPr>
              <a:t>HU13: Perfil de usuario</a:t>
            </a:r>
          </a:p>
          <a:p>
            <a:pPr algn="just">
              <a:lnSpc>
                <a:spcPts val="3119"/>
              </a:lnSpc>
            </a:pPr>
          </a:p>
          <a:p>
            <a:pPr algn="just">
              <a:lnSpc>
                <a:spcPts val="3119"/>
              </a:lnSpc>
            </a:pPr>
            <a:r>
              <a:rPr lang="en-US" b="true" sz="2121" strike="noStrike" u="none">
                <a:solidFill>
                  <a:srgbClr val="FFFFFF"/>
                </a:solidFill>
                <a:latin typeface="TT Interphases Bold"/>
                <a:ea typeface="TT Interphases Bold"/>
                <a:cs typeface="TT Interphases Bold"/>
                <a:sym typeface="TT Interphases Bold"/>
              </a:rPr>
              <a:t>Sprint 2 – Historias desarrolladas</a:t>
            </a:r>
          </a:p>
          <a:p>
            <a:pPr algn="just" marL="458134" indent="-229067" lvl="1">
              <a:lnSpc>
                <a:spcPts val="3119"/>
              </a:lnSpc>
              <a:buFont typeface="Arial"/>
              <a:buChar char="•"/>
            </a:pPr>
            <a:r>
              <a:rPr lang="en-US" sz="2121" strike="noStrike" u="none">
                <a:solidFill>
                  <a:srgbClr val="FFFFFF"/>
                </a:solidFill>
                <a:latin typeface="TT Interphases"/>
                <a:ea typeface="TT Interphases"/>
                <a:cs typeface="TT Interphases"/>
                <a:sym typeface="TT Interphases"/>
              </a:rPr>
              <a:t>HU5: Valorar post</a:t>
            </a:r>
          </a:p>
          <a:p>
            <a:pPr algn="just" marL="458134" indent="-229067" lvl="1">
              <a:lnSpc>
                <a:spcPts val="3119"/>
              </a:lnSpc>
              <a:buFont typeface="Arial"/>
              <a:buChar char="•"/>
            </a:pPr>
            <a:r>
              <a:rPr lang="en-US" sz="2121" strike="noStrike" u="none">
                <a:solidFill>
                  <a:srgbClr val="FFFFFF"/>
                </a:solidFill>
                <a:latin typeface="TT Interphases"/>
                <a:ea typeface="TT Interphases"/>
                <a:cs typeface="TT Interphases"/>
                <a:sym typeface="TT Interphases"/>
              </a:rPr>
              <a:t>HU6: Sistema de logros</a:t>
            </a:r>
          </a:p>
          <a:p>
            <a:pPr algn="just" marL="458134" indent="-229067" lvl="1">
              <a:lnSpc>
                <a:spcPts val="3119"/>
              </a:lnSpc>
              <a:buFont typeface="Arial"/>
              <a:buChar char="•"/>
            </a:pPr>
            <a:r>
              <a:rPr lang="en-US" sz="2121" strike="noStrike" u="none">
                <a:solidFill>
                  <a:srgbClr val="FFFFFF"/>
                </a:solidFill>
                <a:latin typeface="TT Interphases"/>
                <a:ea typeface="TT Interphases"/>
                <a:cs typeface="TT Interphases"/>
                <a:sym typeface="TT Interphases"/>
              </a:rPr>
              <a:t>HU7: Etiquetas</a:t>
            </a:r>
          </a:p>
          <a:p>
            <a:pPr algn="just" marL="458134" indent="-229067" lvl="1">
              <a:lnSpc>
                <a:spcPts val="3119"/>
              </a:lnSpc>
              <a:buFont typeface="Arial"/>
              <a:buChar char="•"/>
            </a:pPr>
            <a:r>
              <a:rPr lang="en-US" sz="2121" strike="noStrike" u="none">
                <a:solidFill>
                  <a:srgbClr val="FFFFFF"/>
                </a:solidFill>
                <a:latin typeface="TT Interphases"/>
                <a:ea typeface="TT Interphases"/>
                <a:cs typeface="TT Interphases"/>
                <a:sym typeface="TT Interphases"/>
              </a:rPr>
              <a:t>HU9: Guardar favoritos</a:t>
            </a:r>
          </a:p>
          <a:p>
            <a:pPr algn="just" marL="458134" indent="-229067" lvl="1">
              <a:lnSpc>
                <a:spcPts val="3119"/>
              </a:lnSpc>
              <a:buFont typeface="Arial"/>
              <a:buChar char="•"/>
            </a:pPr>
            <a:r>
              <a:rPr lang="en-US" sz="2121" strike="noStrike" u="none">
                <a:solidFill>
                  <a:srgbClr val="FFFFFF"/>
                </a:solidFill>
                <a:latin typeface="TT Interphases"/>
                <a:ea typeface="TT Interphases"/>
                <a:cs typeface="TT Interphases"/>
                <a:sym typeface="TT Interphases"/>
              </a:rPr>
              <a:t>HU10: Notificaciones</a:t>
            </a:r>
          </a:p>
          <a:p>
            <a:pPr algn="just" marL="458134" indent="-229067" lvl="1">
              <a:lnSpc>
                <a:spcPts val="3119"/>
              </a:lnSpc>
              <a:buFont typeface="Arial"/>
              <a:buChar char="•"/>
            </a:pPr>
            <a:r>
              <a:rPr lang="en-US" sz="2121" strike="noStrike" u="none">
                <a:solidFill>
                  <a:srgbClr val="FFFFFF"/>
                </a:solidFill>
                <a:latin typeface="TT Interphases"/>
                <a:ea typeface="TT Interphases"/>
                <a:cs typeface="TT Interphases"/>
                <a:sym typeface="TT Interphases"/>
              </a:rPr>
              <a:t>HU11: Microvideos</a:t>
            </a:r>
          </a:p>
          <a:p>
            <a:pPr algn="just" marL="458134" indent="-229067" lvl="1">
              <a:lnSpc>
                <a:spcPts val="3119"/>
              </a:lnSpc>
              <a:buFont typeface="Arial"/>
              <a:buChar char="•"/>
            </a:pPr>
            <a:r>
              <a:rPr lang="en-US" sz="2121" strike="noStrike" u="none">
                <a:solidFill>
                  <a:srgbClr val="FFFFFF"/>
                </a:solidFill>
                <a:latin typeface="TT Interphases"/>
                <a:ea typeface="TT Interphases"/>
                <a:cs typeface="TT Interphases"/>
                <a:sym typeface="TT Interphases"/>
              </a:rPr>
              <a:t>HU14: Clasificación por nivel</a:t>
            </a:r>
          </a:p>
          <a:p>
            <a:pPr algn="just" marL="458134" indent="-229067" lvl="1">
              <a:lnSpc>
                <a:spcPts val="3119"/>
              </a:lnSpc>
              <a:buFont typeface="Arial"/>
              <a:buChar char="•"/>
            </a:pPr>
            <a:r>
              <a:rPr lang="en-US" sz="2121" strike="noStrike" u="none">
                <a:solidFill>
                  <a:srgbClr val="FFFFFF"/>
                </a:solidFill>
                <a:latin typeface="TT Interphases"/>
                <a:ea typeface="TT Interphases"/>
                <a:cs typeface="TT Interphases"/>
                <a:sym typeface="TT Interphases"/>
              </a:rPr>
              <a:t>HU15: Filtrar por carrera</a:t>
            </a:r>
          </a:p>
          <a:p>
            <a:pPr algn="just" marL="458134" indent="-229067" lvl="1">
              <a:lnSpc>
                <a:spcPts val="3119"/>
              </a:lnSpc>
              <a:buFont typeface="Arial"/>
              <a:buChar char="•"/>
            </a:pPr>
            <a:r>
              <a:rPr lang="en-US" sz="2121" strike="noStrike" u="none">
                <a:solidFill>
                  <a:srgbClr val="FFFFFF"/>
                </a:solidFill>
                <a:latin typeface="TT Interphases"/>
                <a:ea typeface="TT Interphases"/>
                <a:cs typeface="TT Interphases"/>
                <a:sym typeface="TT Interphases"/>
              </a:rPr>
              <a:t>HU16: Comunidades</a:t>
            </a:r>
          </a:p>
          <a:p>
            <a:pPr algn="ctr" marL="0" indent="0" lvl="0">
              <a:lnSpc>
                <a:spcPts val="3119"/>
              </a:lnSpc>
            </a:pPr>
          </a:p>
        </p:txBody>
      </p:sp>
      <p:grpSp>
        <p:nvGrpSpPr>
          <p:cNvPr name="Group 7" id="7"/>
          <p:cNvGrpSpPr/>
          <p:nvPr/>
        </p:nvGrpSpPr>
        <p:grpSpPr>
          <a:xfrm rot="0">
            <a:off x="11763462" y="1170470"/>
            <a:ext cx="3596284" cy="658178"/>
            <a:chOff x="0" y="0"/>
            <a:chExt cx="2220569" cy="406400"/>
          </a:xfrm>
        </p:grpSpPr>
        <p:sp>
          <p:nvSpPr>
            <p:cNvPr name="Freeform 8" id="8"/>
            <p:cNvSpPr/>
            <p:nvPr/>
          </p:nvSpPr>
          <p:spPr>
            <a:xfrm flipH="false" flipV="false" rot="0">
              <a:off x="0" y="0"/>
              <a:ext cx="2220569" cy="406400"/>
            </a:xfrm>
            <a:custGeom>
              <a:avLst/>
              <a:gdLst/>
              <a:ahLst/>
              <a:cxnLst/>
              <a:rect r="r" b="b" t="t" l="l"/>
              <a:pathLst>
                <a:path h="406400" w="2220569">
                  <a:moveTo>
                    <a:pt x="2017369" y="0"/>
                  </a:moveTo>
                  <a:cubicBezTo>
                    <a:pt x="2129593" y="0"/>
                    <a:pt x="2220569" y="90976"/>
                    <a:pt x="2220569" y="203200"/>
                  </a:cubicBezTo>
                  <a:cubicBezTo>
                    <a:pt x="2220569" y="315424"/>
                    <a:pt x="2129593" y="406400"/>
                    <a:pt x="2017369" y="406400"/>
                  </a:cubicBezTo>
                  <a:lnTo>
                    <a:pt x="203200" y="406400"/>
                  </a:lnTo>
                  <a:cubicBezTo>
                    <a:pt x="90976" y="406400"/>
                    <a:pt x="0" y="315424"/>
                    <a:pt x="0" y="203200"/>
                  </a:cubicBezTo>
                  <a:cubicBezTo>
                    <a:pt x="0" y="90976"/>
                    <a:pt x="90976" y="0"/>
                    <a:pt x="203200" y="0"/>
                  </a:cubicBezTo>
                  <a:close/>
                </a:path>
              </a:pathLst>
            </a:custGeom>
            <a:solidFill>
              <a:srgbClr val="FFFFFF"/>
            </a:solidFill>
          </p:spPr>
        </p:sp>
        <p:sp>
          <p:nvSpPr>
            <p:cNvPr name="TextBox 9" id="9"/>
            <p:cNvSpPr txBox="true"/>
            <p:nvPr/>
          </p:nvSpPr>
          <p:spPr>
            <a:xfrm>
              <a:off x="0" y="-38100"/>
              <a:ext cx="2220569" cy="444500"/>
            </a:xfrm>
            <a:prstGeom prst="rect">
              <a:avLst/>
            </a:prstGeom>
          </p:spPr>
          <p:txBody>
            <a:bodyPr anchor="ctr" rtlCol="false" tIns="50800" lIns="50800" bIns="50800" rIns="50800"/>
            <a:lstStyle/>
            <a:p>
              <a:pPr algn="ctr">
                <a:lnSpc>
                  <a:spcPts val="1774"/>
                </a:lnSpc>
              </a:pPr>
            </a:p>
          </p:txBody>
        </p:sp>
      </p:grpSp>
      <p:sp>
        <p:nvSpPr>
          <p:cNvPr name="TextBox 10" id="10"/>
          <p:cNvSpPr txBox="true"/>
          <p:nvPr/>
        </p:nvSpPr>
        <p:spPr>
          <a:xfrm rot="0">
            <a:off x="12230671" y="1237960"/>
            <a:ext cx="2737890" cy="471602"/>
          </a:xfrm>
          <a:prstGeom prst="rect">
            <a:avLst/>
          </a:prstGeom>
        </p:spPr>
        <p:txBody>
          <a:bodyPr anchor="t" rtlCol="false" tIns="0" lIns="0" bIns="0" rIns="0">
            <a:spAutoFit/>
          </a:bodyPr>
          <a:lstStyle/>
          <a:p>
            <a:pPr algn="ctr" marL="0" indent="0" lvl="0">
              <a:lnSpc>
                <a:spcPts val="3931"/>
              </a:lnSpc>
              <a:spcBef>
                <a:spcPct val="0"/>
              </a:spcBef>
            </a:pPr>
            <a:r>
              <a:rPr lang="en-US" b="true" sz="2807">
                <a:solidFill>
                  <a:srgbClr val="000A1F"/>
                </a:solidFill>
                <a:latin typeface="Muli Ultra-Bold"/>
                <a:ea typeface="Muli Ultra-Bold"/>
                <a:cs typeface="Muli Ultra-Bold"/>
                <a:sym typeface="Muli Ultra-Bold"/>
              </a:rPr>
              <a:t>Sprints</a:t>
            </a:r>
          </a:p>
        </p:txBody>
      </p:sp>
      <p:grpSp>
        <p:nvGrpSpPr>
          <p:cNvPr name="Group 11" id="11"/>
          <p:cNvGrpSpPr/>
          <p:nvPr/>
        </p:nvGrpSpPr>
        <p:grpSpPr>
          <a:xfrm rot="5400000">
            <a:off x="-1766672" y="254694"/>
            <a:ext cx="11850027" cy="9472459"/>
            <a:chOff x="0" y="0"/>
            <a:chExt cx="3120995" cy="2494804"/>
          </a:xfrm>
        </p:grpSpPr>
        <p:sp>
          <p:nvSpPr>
            <p:cNvPr name="Freeform 12" id="12"/>
            <p:cNvSpPr/>
            <p:nvPr/>
          </p:nvSpPr>
          <p:spPr>
            <a:xfrm flipH="false" flipV="false" rot="0">
              <a:off x="0" y="0"/>
              <a:ext cx="3120995" cy="2494804"/>
            </a:xfrm>
            <a:custGeom>
              <a:avLst/>
              <a:gdLst/>
              <a:ahLst/>
              <a:cxnLst/>
              <a:rect r="r" b="b" t="t" l="l"/>
              <a:pathLst>
                <a:path h="2494804" w="3120995">
                  <a:moveTo>
                    <a:pt x="18293" y="0"/>
                  </a:moveTo>
                  <a:lnTo>
                    <a:pt x="3102702" y="0"/>
                  </a:lnTo>
                  <a:cubicBezTo>
                    <a:pt x="3107553" y="0"/>
                    <a:pt x="3112206" y="1927"/>
                    <a:pt x="3115637" y="5358"/>
                  </a:cubicBezTo>
                  <a:cubicBezTo>
                    <a:pt x="3119068" y="8789"/>
                    <a:pt x="3120995" y="13441"/>
                    <a:pt x="3120995" y="18293"/>
                  </a:cubicBezTo>
                  <a:lnTo>
                    <a:pt x="3120995" y="2476511"/>
                  </a:lnTo>
                  <a:cubicBezTo>
                    <a:pt x="3120995" y="2486614"/>
                    <a:pt x="3112805" y="2494804"/>
                    <a:pt x="3102702" y="2494804"/>
                  </a:cubicBezTo>
                  <a:lnTo>
                    <a:pt x="18293" y="2494804"/>
                  </a:lnTo>
                  <a:cubicBezTo>
                    <a:pt x="13441" y="2494804"/>
                    <a:pt x="8789" y="2492877"/>
                    <a:pt x="5358" y="2489446"/>
                  </a:cubicBezTo>
                  <a:cubicBezTo>
                    <a:pt x="1927" y="2486015"/>
                    <a:pt x="0" y="2481362"/>
                    <a:pt x="0" y="2476511"/>
                  </a:cubicBezTo>
                  <a:lnTo>
                    <a:pt x="0" y="18293"/>
                  </a:lnTo>
                  <a:cubicBezTo>
                    <a:pt x="0" y="8190"/>
                    <a:pt x="8190" y="0"/>
                    <a:pt x="18293" y="0"/>
                  </a:cubicBezTo>
                  <a:close/>
                </a:path>
              </a:pathLst>
            </a:custGeom>
            <a:solidFill>
              <a:srgbClr val="000A1F">
                <a:alpha val="60000"/>
              </a:srgbClr>
            </a:solidFill>
          </p:spPr>
        </p:sp>
        <p:sp>
          <p:nvSpPr>
            <p:cNvPr name="TextBox 13" id="13"/>
            <p:cNvSpPr txBox="true"/>
            <p:nvPr/>
          </p:nvSpPr>
          <p:spPr>
            <a:xfrm>
              <a:off x="0" y="-38100"/>
              <a:ext cx="3120995" cy="2532904"/>
            </a:xfrm>
            <a:prstGeom prst="rect">
              <a:avLst/>
            </a:prstGeom>
          </p:spPr>
          <p:txBody>
            <a:bodyPr anchor="ctr" rtlCol="false" tIns="50800" lIns="50800" bIns="50800" rIns="50800"/>
            <a:lstStyle/>
            <a:p>
              <a:pPr algn="ctr">
                <a:lnSpc>
                  <a:spcPts val="1774"/>
                </a:lnSpc>
              </a:pPr>
            </a:p>
          </p:txBody>
        </p:sp>
      </p:grpSp>
      <p:sp>
        <p:nvSpPr>
          <p:cNvPr name="TextBox 14" id="14"/>
          <p:cNvSpPr txBox="true"/>
          <p:nvPr/>
        </p:nvSpPr>
        <p:spPr>
          <a:xfrm rot="0">
            <a:off x="713329" y="1257010"/>
            <a:ext cx="7859049" cy="1190006"/>
          </a:xfrm>
          <a:prstGeom prst="rect">
            <a:avLst/>
          </a:prstGeom>
        </p:spPr>
        <p:txBody>
          <a:bodyPr anchor="t" rtlCol="false" tIns="0" lIns="0" bIns="0" rIns="0">
            <a:spAutoFit/>
          </a:bodyPr>
          <a:lstStyle/>
          <a:p>
            <a:pPr algn="l" marL="0" indent="0" lvl="0">
              <a:lnSpc>
                <a:spcPts val="9451"/>
              </a:lnSpc>
              <a:spcBef>
                <a:spcPct val="0"/>
              </a:spcBef>
            </a:pPr>
            <a:r>
              <a:rPr lang="en-US" b="true" sz="7621" spc="144">
                <a:solidFill>
                  <a:srgbClr val="FFFFFF"/>
                </a:solidFill>
                <a:latin typeface="Muli Heavy"/>
                <a:ea typeface="Muli Heavy"/>
                <a:cs typeface="Muli Heavy"/>
                <a:sym typeface="Muli Heavy"/>
              </a:rPr>
              <a:t>METODOLOGIA</a:t>
            </a:r>
          </a:p>
        </p:txBody>
      </p:sp>
      <p:sp>
        <p:nvSpPr>
          <p:cNvPr name="TextBox 15" id="15"/>
          <p:cNvSpPr txBox="true"/>
          <p:nvPr/>
        </p:nvSpPr>
        <p:spPr>
          <a:xfrm rot="0">
            <a:off x="1028700" y="3092469"/>
            <a:ext cx="6736179" cy="5220271"/>
          </a:xfrm>
          <a:prstGeom prst="rect">
            <a:avLst/>
          </a:prstGeom>
        </p:spPr>
        <p:txBody>
          <a:bodyPr anchor="t" rtlCol="false" tIns="0" lIns="0" bIns="0" rIns="0">
            <a:spAutoFit/>
          </a:bodyPr>
          <a:lstStyle/>
          <a:p>
            <a:pPr algn="l">
              <a:lnSpc>
                <a:spcPts val="3811"/>
              </a:lnSpc>
            </a:pPr>
            <a:r>
              <a:rPr lang="en-US" sz="2367">
                <a:solidFill>
                  <a:srgbClr val="FFFFFF"/>
                </a:solidFill>
                <a:latin typeface="TT Interphases"/>
                <a:ea typeface="TT Interphases"/>
                <a:cs typeface="TT Interphases"/>
                <a:sym typeface="TT Interphases"/>
              </a:rPr>
              <a:t>Metodología seleccionada: </a:t>
            </a:r>
            <a:r>
              <a:rPr lang="en-US" sz="2367" b="true">
                <a:solidFill>
                  <a:srgbClr val="FFFFFF"/>
                </a:solidFill>
                <a:latin typeface="TT Interphases Bold"/>
                <a:ea typeface="TT Interphases Bold"/>
                <a:cs typeface="TT Interphases Bold"/>
                <a:sym typeface="TT Interphases Bold"/>
              </a:rPr>
              <a:t>Scrum</a:t>
            </a:r>
          </a:p>
          <a:p>
            <a:pPr algn="l" marL="511053" indent="-255527" lvl="1">
              <a:lnSpc>
                <a:spcPts val="3811"/>
              </a:lnSpc>
              <a:buFont typeface="Arial"/>
              <a:buChar char="•"/>
            </a:pPr>
            <a:r>
              <a:rPr lang="en-US" sz="2367">
                <a:solidFill>
                  <a:srgbClr val="FFFFFF"/>
                </a:solidFill>
                <a:latin typeface="TT Interphases"/>
                <a:ea typeface="TT Interphases"/>
                <a:cs typeface="TT Interphases"/>
                <a:sym typeface="TT Interphases"/>
              </a:rPr>
              <a:t>Permite trabajar en iteraciones cortas (sprints).</a:t>
            </a:r>
          </a:p>
          <a:p>
            <a:pPr algn="l" marL="511053" indent="-255527" lvl="1">
              <a:lnSpc>
                <a:spcPts val="3811"/>
              </a:lnSpc>
              <a:buFont typeface="Arial"/>
              <a:buChar char="•"/>
            </a:pPr>
            <a:r>
              <a:rPr lang="en-US" sz="2367">
                <a:solidFill>
                  <a:srgbClr val="FFFFFF"/>
                </a:solidFill>
                <a:latin typeface="TT Interphases"/>
                <a:ea typeface="TT Interphases"/>
                <a:cs typeface="TT Interphases"/>
                <a:sym typeface="TT Interphases"/>
              </a:rPr>
              <a:t>Facilita la adaptación a cambios.</a:t>
            </a:r>
          </a:p>
          <a:p>
            <a:pPr algn="l" marL="511053" indent="-255527" lvl="1">
              <a:lnSpc>
                <a:spcPts val="3811"/>
              </a:lnSpc>
              <a:buFont typeface="Arial"/>
              <a:buChar char="•"/>
            </a:pPr>
            <a:r>
              <a:rPr lang="en-US" sz="2367">
                <a:solidFill>
                  <a:srgbClr val="FFFFFF"/>
                </a:solidFill>
                <a:latin typeface="TT Interphases"/>
                <a:ea typeface="TT Interphases"/>
                <a:cs typeface="TT Interphases"/>
                <a:sym typeface="TT Interphases"/>
              </a:rPr>
              <a:t>Asegura entregas constantes e incrementales de valor.</a:t>
            </a:r>
          </a:p>
          <a:p>
            <a:pPr algn="l" marL="511053" indent="-255527" lvl="1">
              <a:lnSpc>
                <a:spcPts val="3811"/>
              </a:lnSpc>
              <a:buFont typeface="Arial"/>
              <a:buChar char="•"/>
            </a:pPr>
            <a:r>
              <a:rPr lang="en-US" sz="2367">
                <a:solidFill>
                  <a:srgbClr val="FFFFFF"/>
                </a:solidFill>
                <a:latin typeface="TT Interphases"/>
                <a:ea typeface="TT Interphases"/>
                <a:cs typeface="TT Interphases"/>
                <a:sym typeface="TT Interphases"/>
              </a:rPr>
              <a:t>Favorece la comunicación, retroalimentación y organización del equipo.</a:t>
            </a:r>
          </a:p>
          <a:p>
            <a:pPr algn="l" marL="511053" indent="-255527" lvl="1">
              <a:lnSpc>
                <a:spcPts val="3811"/>
              </a:lnSpc>
              <a:buFont typeface="Arial"/>
              <a:buChar char="•"/>
            </a:pPr>
            <a:r>
              <a:rPr lang="en-US" sz="2367">
                <a:solidFill>
                  <a:srgbClr val="FFFFFF"/>
                </a:solidFill>
                <a:latin typeface="TT Interphases"/>
                <a:ea typeface="TT Interphases"/>
                <a:cs typeface="TT Interphases"/>
                <a:sym typeface="TT Interphases"/>
              </a:rPr>
              <a:t>Ideal para proyectos académicos con plazos reducidos y funcionalidades en evolución.</a:t>
            </a:r>
          </a:p>
          <a:p>
            <a:pPr algn="l">
              <a:lnSpc>
                <a:spcPts val="3811"/>
              </a:lnSpc>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5400000">
            <a:off x="6307359" y="-1808232"/>
            <a:ext cx="5673281" cy="20739065"/>
            <a:chOff x="0" y="0"/>
            <a:chExt cx="1494198" cy="5462141"/>
          </a:xfrm>
        </p:grpSpPr>
        <p:sp>
          <p:nvSpPr>
            <p:cNvPr name="Freeform 4" id="4"/>
            <p:cNvSpPr/>
            <p:nvPr/>
          </p:nvSpPr>
          <p:spPr>
            <a:xfrm flipH="false" flipV="false" rot="0">
              <a:off x="0" y="0"/>
              <a:ext cx="1494198" cy="5462141"/>
            </a:xfrm>
            <a:custGeom>
              <a:avLst/>
              <a:gdLst/>
              <a:ahLst/>
              <a:cxnLst/>
              <a:rect r="r" b="b" t="t" l="l"/>
              <a:pathLst>
                <a:path h="5462141" w="1494198">
                  <a:moveTo>
                    <a:pt x="38210" y="0"/>
                  </a:moveTo>
                  <a:lnTo>
                    <a:pt x="1455988" y="0"/>
                  </a:lnTo>
                  <a:cubicBezTo>
                    <a:pt x="1466122" y="0"/>
                    <a:pt x="1475841" y="4026"/>
                    <a:pt x="1483006" y="11191"/>
                  </a:cubicBezTo>
                  <a:cubicBezTo>
                    <a:pt x="1490172" y="18357"/>
                    <a:pt x="1494198" y="28076"/>
                    <a:pt x="1494198" y="38210"/>
                  </a:cubicBezTo>
                  <a:lnTo>
                    <a:pt x="1494198" y="5423931"/>
                  </a:lnTo>
                  <a:cubicBezTo>
                    <a:pt x="1494198" y="5445034"/>
                    <a:pt x="1477091" y="5462141"/>
                    <a:pt x="1455988" y="5462141"/>
                  </a:cubicBezTo>
                  <a:lnTo>
                    <a:pt x="38210" y="5462141"/>
                  </a:lnTo>
                  <a:cubicBezTo>
                    <a:pt x="28076" y="5462141"/>
                    <a:pt x="18357" y="5458115"/>
                    <a:pt x="11191" y="5450949"/>
                  </a:cubicBezTo>
                  <a:cubicBezTo>
                    <a:pt x="4026" y="5443784"/>
                    <a:pt x="0" y="5434065"/>
                    <a:pt x="0" y="5423931"/>
                  </a:cubicBezTo>
                  <a:lnTo>
                    <a:pt x="0" y="38210"/>
                  </a:lnTo>
                  <a:cubicBezTo>
                    <a:pt x="0" y="28076"/>
                    <a:pt x="4026" y="18357"/>
                    <a:pt x="11191" y="11191"/>
                  </a:cubicBezTo>
                  <a:cubicBezTo>
                    <a:pt x="18357" y="4026"/>
                    <a:pt x="28076" y="0"/>
                    <a:pt x="38210" y="0"/>
                  </a:cubicBezTo>
                  <a:close/>
                </a:path>
              </a:pathLst>
            </a:custGeom>
            <a:solidFill>
              <a:srgbClr val="000A1F">
                <a:alpha val="60000"/>
              </a:srgbClr>
            </a:solidFill>
          </p:spPr>
        </p:sp>
        <p:sp>
          <p:nvSpPr>
            <p:cNvPr name="TextBox 5" id="5"/>
            <p:cNvSpPr txBox="true"/>
            <p:nvPr/>
          </p:nvSpPr>
          <p:spPr>
            <a:xfrm>
              <a:off x="0" y="-38100"/>
              <a:ext cx="1494198" cy="5500241"/>
            </a:xfrm>
            <a:prstGeom prst="rect">
              <a:avLst/>
            </a:prstGeom>
          </p:spPr>
          <p:txBody>
            <a:bodyPr anchor="ctr" rtlCol="false" tIns="50800" lIns="50800" bIns="50800" rIns="50800"/>
            <a:lstStyle/>
            <a:p>
              <a:pPr algn="ctr">
                <a:lnSpc>
                  <a:spcPts val="1774"/>
                </a:lnSpc>
              </a:pPr>
            </a:p>
          </p:txBody>
        </p:sp>
      </p:grpSp>
      <p:grpSp>
        <p:nvGrpSpPr>
          <p:cNvPr name="Group 6" id="6"/>
          <p:cNvGrpSpPr/>
          <p:nvPr/>
        </p:nvGrpSpPr>
        <p:grpSpPr>
          <a:xfrm rot="5400000">
            <a:off x="3110340" y="-3925931"/>
            <a:ext cx="4127957" cy="8291237"/>
            <a:chOff x="0" y="0"/>
            <a:chExt cx="1087198" cy="2183700"/>
          </a:xfrm>
        </p:grpSpPr>
        <p:sp>
          <p:nvSpPr>
            <p:cNvPr name="Freeform 7" id="7"/>
            <p:cNvSpPr/>
            <p:nvPr/>
          </p:nvSpPr>
          <p:spPr>
            <a:xfrm flipH="false" flipV="false" rot="0">
              <a:off x="0" y="0"/>
              <a:ext cx="1087198" cy="2183700"/>
            </a:xfrm>
            <a:custGeom>
              <a:avLst/>
              <a:gdLst/>
              <a:ahLst/>
              <a:cxnLst/>
              <a:rect r="r" b="b" t="t" l="l"/>
              <a:pathLst>
                <a:path h="2183700" w="1087198">
                  <a:moveTo>
                    <a:pt x="52514" y="0"/>
                  </a:moveTo>
                  <a:lnTo>
                    <a:pt x="1034685" y="0"/>
                  </a:lnTo>
                  <a:cubicBezTo>
                    <a:pt x="1063687" y="0"/>
                    <a:pt x="1087198" y="23511"/>
                    <a:pt x="1087198" y="52514"/>
                  </a:cubicBezTo>
                  <a:lnTo>
                    <a:pt x="1087198" y="2131187"/>
                  </a:lnTo>
                  <a:cubicBezTo>
                    <a:pt x="1087198" y="2145114"/>
                    <a:pt x="1081666" y="2158471"/>
                    <a:pt x="1071818" y="2168319"/>
                  </a:cubicBezTo>
                  <a:cubicBezTo>
                    <a:pt x="1061969" y="2178168"/>
                    <a:pt x="1048612" y="2183700"/>
                    <a:pt x="1034685" y="2183700"/>
                  </a:cubicBezTo>
                  <a:lnTo>
                    <a:pt x="52514" y="2183700"/>
                  </a:lnTo>
                  <a:cubicBezTo>
                    <a:pt x="38586" y="2183700"/>
                    <a:pt x="25229" y="2178168"/>
                    <a:pt x="15381" y="2168319"/>
                  </a:cubicBezTo>
                  <a:cubicBezTo>
                    <a:pt x="5533" y="2158471"/>
                    <a:pt x="0" y="2145114"/>
                    <a:pt x="0" y="2131187"/>
                  </a:cubicBezTo>
                  <a:lnTo>
                    <a:pt x="0" y="52514"/>
                  </a:lnTo>
                  <a:cubicBezTo>
                    <a:pt x="0" y="23511"/>
                    <a:pt x="23511" y="0"/>
                    <a:pt x="52514" y="0"/>
                  </a:cubicBezTo>
                  <a:close/>
                </a:path>
              </a:pathLst>
            </a:custGeom>
            <a:solidFill>
              <a:srgbClr val="000A1F">
                <a:alpha val="60000"/>
              </a:srgbClr>
            </a:solidFill>
          </p:spPr>
        </p:sp>
        <p:sp>
          <p:nvSpPr>
            <p:cNvPr name="TextBox 8" id="8"/>
            <p:cNvSpPr txBox="true"/>
            <p:nvPr/>
          </p:nvSpPr>
          <p:spPr>
            <a:xfrm>
              <a:off x="0" y="-38100"/>
              <a:ext cx="1087198" cy="2221800"/>
            </a:xfrm>
            <a:prstGeom prst="rect">
              <a:avLst/>
            </a:prstGeom>
          </p:spPr>
          <p:txBody>
            <a:bodyPr anchor="ctr" rtlCol="false" tIns="50800" lIns="50800" bIns="50800" rIns="50800"/>
            <a:lstStyle/>
            <a:p>
              <a:pPr algn="ctr">
                <a:lnSpc>
                  <a:spcPts val="1774"/>
                </a:lnSpc>
              </a:pPr>
            </a:p>
          </p:txBody>
        </p:sp>
      </p:grpSp>
      <p:sp>
        <p:nvSpPr>
          <p:cNvPr name="Freeform 9" id="9"/>
          <p:cNvSpPr/>
          <p:nvPr/>
        </p:nvSpPr>
        <p:spPr>
          <a:xfrm flipH="false" flipV="false" rot="0">
            <a:off x="586582" y="2868622"/>
            <a:ext cx="17114836" cy="5712076"/>
          </a:xfrm>
          <a:custGeom>
            <a:avLst/>
            <a:gdLst/>
            <a:ahLst/>
            <a:cxnLst/>
            <a:rect r="r" b="b" t="t" l="l"/>
            <a:pathLst>
              <a:path h="5712076" w="17114836">
                <a:moveTo>
                  <a:pt x="0" y="0"/>
                </a:moveTo>
                <a:lnTo>
                  <a:pt x="17114836" y="0"/>
                </a:lnTo>
                <a:lnTo>
                  <a:pt x="17114836" y="5712076"/>
                </a:lnTo>
                <a:lnTo>
                  <a:pt x="0" y="5712076"/>
                </a:lnTo>
                <a:lnTo>
                  <a:pt x="0" y="0"/>
                </a:lnTo>
                <a:close/>
              </a:path>
            </a:pathLst>
          </a:custGeom>
          <a:blipFill>
            <a:blip r:embed="rId3"/>
            <a:stretch>
              <a:fillRect l="0" t="0" r="0" b="0"/>
            </a:stretch>
          </a:blipFill>
        </p:spPr>
      </p:sp>
      <p:sp>
        <p:nvSpPr>
          <p:cNvPr name="TextBox 10" id="10"/>
          <p:cNvSpPr txBox="true"/>
          <p:nvPr/>
        </p:nvSpPr>
        <p:spPr>
          <a:xfrm rot="0">
            <a:off x="1248291" y="472861"/>
            <a:ext cx="8071646" cy="1190006"/>
          </a:xfrm>
          <a:prstGeom prst="rect">
            <a:avLst/>
          </a:prstGeom>
        </p:spPr>
        <p:txBody>
          <a:bodyPr anchor="t" rtlCol="false" tIns="0" lIns="0" bIns="0" rIns="0">
            <a:spAutoFit/>
          </a:bodyPr>
          <a:lstStyle/>
          <a:p>
            <a:pPr algn="ctr" marL="0" indent="0" lvl="0">
              <a:lnSpc>
                <a:spcPts val="9451"/>
              </a:lnSpc>
              <a:spcBef>
                <a:spcPct val="0"/>
              </a:spcBef>
            </a:pPr>
            <a:r>
              <a:rPr lang="en-US" b="true" sz="7621" spc="144">
                <a:solidFill>
                  <a:srgbClr val="FFFFFF"/>
                </a:solidFill>
                <a:latin typeface="Muli Heavy"/>
                <a:ea typeface="Muli Heavy"/>
                <a:cs typeface="Muli Heavy"/>
                <a:sym typeface="Muli Heavy"/>
              </a:rPr>
              <a:t>CRONOGRAMA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5400000">
            <a:off x="6307359" y="-1808232"/>
            <a:ext cx="5673281" cy="20739065"/>
            <a:chOff x="0" y="0"/>
            <a:chExt cx="1494198" cy="5462141"/>
          </a:xfrm>
        </p:grpSpPr>
        <p:sp>
          <p:nvSpPr>
            <p:cNvPr name="Freeform 4" id="4"/>
            <p:cNvSpPr/>
            <p:nvPr/>
          </p:nvSpPr>
          <p:spPr>
            <a:xfrm flipH="false" flipV="false" rot="0">
              <a:off x="0" y="0"/>
              <a:ext cx="1494198" cy="5462141"/>
            </a:xfrm>
            <a:custGeom>
              <a:avLst/>
              <a:gdLst/>
              <a:ahLst/>
              <a:cxnLst/>
              <a:rect r="r" b="b" t="t" l="l"/>
              <a:pathLst>
                <a:path h="5462141" w="1494198">
                  <a:moveTo>
                    <a:pt x="38210" y="0"/>
                  </a:moveTo>
                  <a:lnTo>
                    <a:pt x="1455988" y="0"/>
                  </a:lnTo>
                  <a:cubicBezTo>
                    <a:pt x="1466122" y="0"/>
                    <a:pt x="1475841" y="4026"/>
                    <a:pt x="1483006" y="11191"/>
                  </a:cubicBezTo>
                  <a:cubicBezTo>
                    <a:pt x="1490172" y="18357"/>
                    <a:pt x="1494198" y="28076"/>
                    <a:pt x="1494198" y="38210"/>
                  </a:cubicBezTo>
                  <a:lnTo>
                    <a:pt x="1494198" y="5423931"/>
                  </a:lnTo>
                  <a:cubicBezTo>
                    <a:pt x="1494198" y="5445034"/>
                    <a:pt x="1477091" y="5462141"/>
                    <a:pt x="1455988" y="5462141"/>
                  </a:cubicBezTo>
                  <a:lnTo>
                    <a:pt x="38210" y="5462141"/>
                  </a:lnTo>
                  <a:cubicBezTo>
                    <a:pt x="28076" y="5462141"/>
                    <a:pt x="18357" y="5458115"/>
                    <a:pt x="11191" y="5450949"/>
                  </a:cubicBezTo>
                  <a:cubicBezTo>
                    <a:pt x="4026" y="5443784"/>
                    <a:pt x="0" y="5434065"/>
                    <a:pt x="0" y="5423931"/>
                  </a:cubicBezTo>
                  <a:lnTo>
                    <a:pt x="0" y="38210"/>
                  </a:lnTo>
                  <a:cubicBezTo>
                    <a:pt x="0" y="28076"/>
                    <a:pt x="4026" y="18357"/>
                    <a:pt x="11191" y="11191"/>
                  </a:cubicBezTo>
                  <a:cubicBezTo>
                    <a:pt x="18357" y="4026"/>
                    <a:pt x="28076" y="0"/>
                    <a:pt x="38210" y="0"/>
                  </a:cubicBezTo>
                  <a:close/>
                </a:path>
              </a:pathLst>
            </a:custGeom>
            <a:solidFill>
              <a:srgbClr val="000A1F">
                <a:alpha val="60000"/>
              </a:srgbClr>
            </a:solidFill>
          </p:spPr>
        </p:sp>
        <p:sp>
          <p:nvSpPr>
            <p:cNvPr name="TextBox 5" id="5"/>
            <p:cNvSpPr txBox="true"/>
            <p:nvPr/>
          </p:nvSpPr>
          <p:spPr>
            <a:xfrm>
              <a:off x="0" y="-38100"/>
              <a:ext cx="1494198" cy="5500241"/>
            </a:xfrm>
            <a:prstGeom prst="rect">
              <a:avLst/>
            </a:prstGeom>
          </p:spPr>
          <p:txBody>
            <a:bodyPr anchor="ctr" rtlCol="false" tIns="50800" lIns="50800" bIns="50800" rIns="50800"/>
            <a:lstStyle/>
            <a:p>
              <a:pPr algn="ctr">
                <a:lnSpc>
                  <a:spcPts val="1774"/>
                </a:lnSpc>
              </a:pPr>
            </a:p>
          </p:txBody>
        </p:sp>
      </p:grpSp>
      <p:grpSp>
        <p:nvGrpSpPr>
          <p:cNvPr name="Group 6" id="6"/>
          <p:cNvGrpSpPr/>
          <p:nvPr/>
        </p:nvGrpSpPr>
        <p:grpSpPr>
          <a:xfrm rot="5400000">
            <a:off x="7080022" y="-7895613"/>
            <a:ext cx="4127957" cy="16230600"/>
            <a:chOff x="0" y="0"/>
            <a:chExt cx="1087198" cy="4274726"/>
          </a:xfrm>
        </p:grpSpPr>
        <p:sp>
          <p:nvSpPr>
            <p:cNvPr name="Freeform 7" id="7"/>
            <p:cNvSpPr/>
            <p:nvPr/>
          </p:nvSpPr>
          <p:spPr>
            <a:xfrm flipH="false" flipV="false" rot="0">
              <a:off x="0" y="0"/>
              <a:ext cx="1087198" cy="4274726"/>
            </a:xfrm>
            <a:custGeom>
              <a:avLst/>
              <a:gdLst/>
              <a:ahLst/>
              <a:cxnLst/>
              <a:rect r="r" b="b" t="t" l="l"/>
              <a:pathLst>
                <a:path h="4274726" w="1087198">
                  <a:moveTo>
                    <a:pt x="52514" y="0"/>
                  </a:moveTo>
                  <a:lnTo>
                    <a:pt x="1034685" y="0"/>
                  </a:lnTo>
                  <a:cubicBezTo>
                    <a:pt x="1063687" y="0"/>
                    <a:pt x="1087198" y="23511"/>
                    <a:pt x="1087198" y="52514"/>
                  </a:cubicBezTo>
                  <a:lnTo>
                    <a:pt x="1087198" y="4222212"/>
                  </a:lnTo>
                  <a:cubicBezTo>
                    <a:pt x="1087198" y="4236140"/>
                    <a:pt x="1081666" y="4249497"/>
                    <a:pt x="1071818" y="4259345"/>
                  </a:cubicBezTo>
                  <a:cubicBezTo>
                    <a:pt x="1061969" y="4269193"/>
                    <a:pt x="1048612" y="4274726"/>
                    <a:pt x="1034685" y="4274726"/>
                  </a:cubicBezTo>
                  <a:lnTo>
                    <a:pt x="52514" y="4274726"/>
                  </a:lnTo>
                  <a:cubicBezTo>
                    <a:pt x="38586" y="4274726"/>
                    <a:pt x="25229" y="4269193"/>
                    <a:pt x="15381" y="4259345"/>
                  </a:cubicBezTo>
                  <a:cubicBezTo>
                    <a:pt x="5533" y="4249497"/>
                    <a:pt x="0" y="4236140"/>
                    <a:pt x="0" y="4222212"/>
                  </a:cubicBezTo>
                  <a:lnTo>
                    <a:pt x="0" y="52514"/>
                  </a:lnTo>
                  <a:cubicBezTo>
                    <a:pt x="0" y="23511"/>
                    <a:pt x="23511" y="0"/>
                    <a:pt x="52514" y="0"/>
                  </a:cubicBezTo>
                  <a:close/>
                </a:path>
              </a:pathLst>
            </a:custGeom>
            <a:solidFill>
              <a:srgbClr val="000A1F">
                <a:alpha val="60000"/>
              </a:srgbClr>
            </a:solidFill>
          </p:spPr>
        </p:sp>
        <p:sp>
          <p:nvSpPr>
            <p:cNvPr name="TextBox 8" id="8"/>
            <p:cNvSpPr txBox="true"/>
            <p:nvPr/>
          </p:nvSpPr>
          <p:spPr>
            <a:xfrm>
              <a:off x="0" y="-38100"/>
              <a:ext cx="1087198" cy="4312826"/>
            </a:xfrm>
            <a:prstGeom prst="rect">
              <a:avLst/>
            </a:prstGeom>
          </p:spPr>
          <p:txBody>
            <a:bodyPr anchor="ctr" rtlCol="false" tIns="50800" lIns="50800" bIns="50800" rIns="50800"/>
            <a:lstStyle/>
            <a:p>
              <a:pPr algn="ctr">
                <a:lnSpc>
                  <a:spcPts val="1774"/>
                </a:lnSpc>
              </a:pPr>
            </a:p>
          </p:txBody>
        </p:sp>
      </p:grpSp>
      <p:grpSp>
        <p:nvGrpSpPr>
          <p:cNvPr name="Group 9" id="9"/>
          <p:cNvGrpSpPr/>
          <p:nvPr/>
        </p:nvGrpSpPr>
        <p:grpSpPr>
          <a:xfrm rot="0">
            <a:off x="1347128" y="3837644"/>
            <a:ext cx="3086100" cy="3766124"/>
            <a:chOff x="0" y="0"/>
            <a:chExt cx="812800" cy="991901"/>
          </a:xfrm>
        </p:grpSpPr>
        <p:sp>
          <p:nvSpPr>
            <p:cNvPr name="Freeform 10" id="10"/>
            <p:cNvSpPr/>
            <p:nvPr/>
          </p:nvSpPr>
          <p:spPr>
            <a:xfrm flipH="false" flipV="false" rot="0">
              <a:off x="0" y="0"/>
              <a:ext cx="812800" cy="991901"/>
            </a:xfrm>
            <a:custGeom>
              <a:avLst/>
              <a:gdLst/>
              <a:ahLst/>
              <a:cxnLst/>
              <a:rect r="r" b="b" t="t" l="l"/>
              <a:pathLst>
                <a:path h="991901" w="812800">
                  <a:moveTo>
                    <a:pt x="127941" y="0"/>
                  </a:moveTo>
                  <a:lnTo>
                    <a:pt x="684859" y="0"/>
                  </a:lnTo>
                  <a:cubicBezTo>
                    <a:pt x="718791" y="0"/>
                    <a:pt x="751333" y="13479"/>
                    <a:pt x="775327" y="37473"/>
                  </a:cubicBezTo>
                  <a:cubicBezTo>
                    <a:pt x="799321" y="61467"/>
                    <a:pt x="812800" y="94009"/>
                    <a:pt x="812800" y="127941"/>
                  </a:cubicBezTo>
                  <a:lnTo>
                    <a:pt x="812800" y="863960"/>
                  </a:lnTo>
                  <a:cubicBezTo>
                    <a:pt x="812800" y="897892"/>
                    <a:pt x="799321" y="930434"/>
                    <a:pt x="775327" y="954428"/>
                  </a:cubicBezTo>
                  <a:cubicBezTo>
                    <a:pt x="751333" y="978422"/>
                    <a:pt x="718791" y="991901"/>
                    <a:pt x="684859" y="991901"/>
                  </a:cubicBezTo>
                  <a:lnTo>
                    <a:pt x="127941" y="991901"/>
                  </a:lnTo>
                  <a:cubicBezTo>
                    <a:pt x="94009" y="991901"/>
                    <a:pt x="61467" y="978422"/>
                    <a:pt x="37473" y="954428"/>
                  </a:cubicBezTo>
                  <a:cubicBezTo>
                    <a:pt x="13479" y="930434"/>
                    <a:pt x="0" y="897892"/>
                    <a:pt x="0" y="863960"/>
                  </a:cubicBezTo>
                  <a:lnTo>
                    <a:pt x="0" y="127941"/>
                  </a:lnTo>
                  <a:cubicBezTo>
                    <a:pt x="0" y="94009"/>
                    <a:pt x="13479" y="61467"/>
                    <a:pt x="37473" y="37473"/>
                  </a:cubicBezTo>
                  <a:cubicBezTo>
                    <a:pt x="61467" y="13479"/>
                    <a:pt x="94009" y="0"/>
                    <a:pt x="127941" y="0"/>
                  </a:cubicBezTo>
                  <a:close/>
                </a:path>
              </a:pathLst>
            </a:custGeom>
            <a:solidFill>
              <a:srgbClr val="00183B"/>
            </a:solidFill>
          </p:spPr>
        </p:sp>
        <p:sp>
          <p:nvSpPr>
            <p:cNvPr name="TextBox 11" id="11"/>
            <p:cNvSpPr txBox="true"/>
            <p:nvPr/>
          </p:nvSpPr>
          <p:spPr>
            <a:xfrm>
              <a:off x="0" y="-38100"/>
              <a:ext cx="812800" cy="1030001"/>
            </a:xfrm>
            <a:prstGeom prst="rect">
              <a:avLst/>
            </a:prstGeom>
          </p:spPr>
          <p:txBody>
            <a:bodyPr anchor="ctr" rtlCol="false" tIns="50800" lIns="50800" bIns="50800" rIns="50800"/>
            <a:lstStyle/>
            <a:p>
              <a:pPr algn="ctr">
                <a:lnSpc>
                  <a:spcPts val="1774"/>
                </a:lnSpc>
              </a:pPr>
            </a:p>
          </p:txBody>
        </p:sp>
      </p:grpSp>
      <p:sp>
        <p:nvSpPr>
          <p:cNvPr name="Freeform 12" id="12"/>
          <p:cNvSpPr/>
          <p:nvPr/>
        </p:nvSpPr>
        <p:spPr>
          <a:xfrm flipH="false" flipV="false" rot="0">
            <a:off x="2079708" y="5143500"/>
            <a:ext cx="1620940" cy="1620940"/>
          </a:xfrm>
          <a:custGeom>
            <a:avLst/>
            <a:gdLst/>
            <a:ahLst/>
            <a:cxnLst/>
            <a:rect r="r" b="b" t="t" l="l"/>
            <a:pathLst>
              <a:path h="1620940" w="1620940">
                <a:moveTo>
                  <a:pt x="0" y="0"/>
                </a:moveTo>
                <a:lnTo>
                  <a:pt x="1620940" y="0"/>
                </a:lnTo>
                <a:lnTo>
                  <a:pt x="1620940" y="1620940"/>
                </a:lnTo>
                <a:lnTo>
                  <a:pt x="0" y="1620940"/>
                </a:lnTo>
                <a:lnTo>
                  <a:pt x="0" y="0"/>
                </a:lnTo>
                <a:close/>
              </a:path>
            </a:pathLst>
          </a:custGeom>
          <a:blipFill>
            <a:blip r:embed="rId3"/>
            <a:stretch>
              <a:fillRect l="0" t="0" r="0" b="0"/>
            </a:stretch>
          </a:blipFill>
        </p:spPr>
      </p:sp>
      <p:grpSp>
        <p:nvGrpSpPr>
          <p:cNvPr name="Group 13" id="13"/>
          <p:cNvGrpSpPr/>
          <p:nvPr/>
        </p:nvGrpSpPr>
        <p:grpSpPr>
          <a:xfrm rot="0">
            <a:off x="4844920" y="3930304"/>
            <a:ext cx="8589550" cy="3766124"/>
            <a:chOff x="0" y="0"/>
            <a:chExt cx="2262268" cy="991901"/>
          </a:xfrm>
        </p:grpSpPr>
        <p:sp>
          <p:nvSpPr>
            <p:cNvPr name="Freeform 14" id="14"/>
            <p:cNvSpPr/>
            <p:nvPr/>
          </p:nvSpPr>
          <p:spPr>
            <a:xfrm flipH="false" flipV="false" rot="0">
              <a:off x="0" y="0"/>
              <a:ext cx="2262268" cy="991901"/>
            </a:xfrm>
            <a:custGeom>
              <a:avLst/>
              <a:gdLst/>
              <a:ahLst/>
              <a:cxnLst/>
              <a:rect r="r" b="b" t="t" l="l"/>
              <a:pathLst>
                <a:path h="991901" w="2262268">
                  <a:moveTo>
                    <a:pt x="45967" y="0"/>
                  </a:moveTo>
                  <a:lnTo>
                    <a:pt x="2216301" y="0"/>
                  </a:lnTo>
                  <a:cubicBezTo>
                    <a:pt x="2228492" y="0"/>
                    <a:pt x="2240184" y="4843"/>
                    <a:pt x="2248805" y="13463"/>
                  </a:cubicBezTo>
                  <a:cubicBezTo>
                    <a:pt x="2257425" y="22084"/>
                    <a:pt x="2262268" y="33776"/>
                    <a:pt x="2262268" y="45967"/>
                  </a:cubicBezTo>
                  <a:lnTo>
                    <a:pt x="2262268" y="945934"/>
                  </a:lnTo>
                  <a:cubicBezTo>
                    <a:pt x="2262268" y="958125"/>
                    <a:pt x="2257425" y="969817"/>
                    <a:pt x="2248805" y="978437"/>
                  </a:cubicBezTo>
                  <a:cubicBezTo>
                    <a:pt x="2240184" y="987058"/>
                    <a:pt x="2228492" y="991901"/>
                    <a:pt x="2216301" y="991901"/>
                  </a:cubicBezTo>
                  <a:lnTo>
                    <a:pt x="45967" y="991901"/>
                  </a:lnTo>
                  <a:cubicBezTo>
                    <a:pt x="33776" y="991901"/>
                    <a:pt x="22084" y="987058"/>
                    <a:pt x="13463" y="978437"/>
                  </a:cubicBezTo>
                  <a:cubicBezTo>
                    <a:pt x="4843" y="969817"/>
                    <a:pt x="0" y="958125"/>
                    <a:pt x="0" y="945934"/>
                  </a:cubicBezTo>
                  <a:lnTo>
                    <a:pt x="0" y="45967"/>
                  </a:lnTo>
                  <a:cubicBezTo>
                    <a:pt x="0" y="33776"/>
                    <a:pt x="4843" y="22084"/>
                    <a:pt x="13463" y="13463"/>
                  </a:cubicBezTo>
                  <a:cubicBezTo>
                    <a:pt x="22084" y="4843"/>
                    <a:pt x="33776" y="0"/>
                    <a:pt x="45967" y="0"/>
                  </a:cubicBezTo>
                  <a:close/>
                </a:path>
              </a:pathLst>
            </a:custGeom>
            <a:solidFill>
              <a:srgbClr val="00183B"/>
            </a:solidFill>
          </p:spPr>
        </p:sp>
        <p:sp>
          <p:nvSpPr>
            <p:cNvPr name="TextBox 15" id="15"/>
            <p:cNvSpPr txBox="true"/>
            <p:nvPr/>
          </p:nvSpPr>
          <p:spPr>
            <a:xfrm>
              <a:off x="0" y="-38100"/>
              <a:ext cx="2262268" cy="1030001"/>
            </a:xfrm>
            <a:prstGeom prst="rect">
              <a:avLst/>
            </a:prstGeom>
          </p:spPr>
          <p:txBody>
            <a:bodyPr anchor="ctr" rtlCol="false" tIns="50800" lIns="50800" bIns="50800" rIns="50800"/>
            <a:lstStyle/>
            <a:p>
              <a:pPr algn="ctr">
                <a:lnSpc>
                  <a:spcPts val="1774"/>
                </a:lnSpc>
              </a:pPr>
            </a:p>
          </p:txBody>
        </p:sp>
      </p:grpSp>
      <p:sp>
        <p:nvSpPr>
          <p:cNvPr name="Freeform 16" id="16"/>
          <p:cNvSpPr/>
          <p:nvPr/>
        </p:nvSpPr>
        <p:spPr>
          <a:xfrm flipH="false" flipV="false" rot="0">
            <a:off x="6195049" y="5143500"/>
            <a:ext cx="1339732" cy="1339732"/>
          </a:xfrm>
          <a:custGeom>
            <a:avLst/>
            <a:gdLst/>
            <a:ahLst/>
            <a:cxnLst/>
            <a:rect r="r" b="b" t="t" l="l"/>
            <a:pathLst>
              <a:path h="1339732" w="1339732">
                <a:moveTo>
                  <a:pt x="0" y="0"/>
                </a:moveTo>
                <a:lnTo>
                  <a:pt x="1339732" y="0"/>
                </a:lnTo>
                <a:lnTo>
                  <a:pt x="1339732" y="1339732"/>
                </a:lnTo>
                <a:lnTo>
                  <a:pt x="0" y="1339732"/>
                </a:lnTo>
                <a:lnTo>
                  <a:pt x="0" y="0"/>
                </a:lnTo>
                <a:close/>
              </a:path>
            </a:pathLst>
          </a:custGeom>
          <a:blipFill>
            <a:blip r:embed="rId4"/>
            <a:stretch>
              <a:fillRect l="0" t="0" r="0" b="0"/>
            </a:stretch>
          </a:blipFill>
        </p:spPr>
      </p:sp>
      <p:sp>
        <p:nvSpPr>
          <p:cNvPr name="Freeform 17" id="17"/>
          <p:cNvSpPr/>
          <p:nvPr/>
        </p:nvSpPr>
        <p:spPr>
          <a:xfrm flipH="false" flipV="false" rot="0">
            <a:off x="8592056" y="5143500"/>
            <a:ext cx="1410897" cy="1410897"/>
          </a:xfrm>
          <a:custGeom>
            <a:avLst/>
            <a:gdLst/>
            <a:ahLst/>
            <a:cxnLst/>
            <a:rect r="r" b="b" t="t" l="l"/>
            <a:pathLst>
              <a:path h="1410897" w="1410897">
                <a:moveTo>
                  <a:pt x="0" y="0"/>
                </a:moveTo>
                <a:lnTo>
                  <a:pt x="1410897" y="0"/>
                </a:lnTo>
                <a:lnTo>
                  <a:pt x="1410897" y="1410897"/>
                </a:lnTo>
                <a:lnTo>
                  <a:pt x="0" y="1410897"/>
                </a:lnTo>
                <a:lnTo>
                  <a:pt x="0" y="0"/>
                </a:lnTo>
                <a:close/>
              </a:path>
            </a:pathLst>
          </a:custGeom>
          <a:blipFill>
            <a:blip r:embed="rId5"/>
            <a:stretch>
              <a:fillRect l="0" t="0" r="0" b="0"/>
            </a:stretch>
          </a:blipFill>
        </p:spPr>
      </p:sp>
      <p:sp>
        <p:nvSpPr>
          <p:cNvPr name="Freeform 18" id="18"/>
          <p:cNvSpPr/>
          <p:nvPr/>
        </p:nvSpPr>
        <p:spPr>
          <a:xfrm flipH="false" flipV="false" rot="0">
            <a:off x="11056533" y="5143500"/>
            <a:ext cx="1410897" cy="1410897"/>
          </a:xfrm>
          <a:custGeom>
            <a:avLst/>
            <a:gdLst/>
            <a:ahLst/>
            <a:cxnLst/>
            <a:rect r="r" b="b" t="t" l="l"/>
            <a:pathLst>
              <a:path h="1410897" w="1410897">
                <a:moveTo>
                  <a:pt x="0" y="0"/>
                </a:moveTo>
                <a:lnTo>
                  <a:pt x="1410897" y="0"/>
                </a:lnTo>
                <a:lnTo>
                  <a:pt x="1410897" y="1410897"/>
                </a:lnTo>
                <a:lnTo>
                  <a:pt x="0" y="1410897"/>
                </a:lnTo>
                <a:lnTo>
                  <a:pt x="0" y="0"/>
                </a:lnTo>
                <a:close/>
              </a:path>
            </a:pathLst>
          </a:custGeom>
          <a:blipFill>
            <a:blip r:embed="rId6"/>
            <a:stretch>
              <a:fillRect l="0" t="0" r="0" b="0"/>
            </a:stretch>
          </a:blipFill>
        </p:spPr>
      </p:sp>
      <p:grpSp>
        <p:nvGrpSpPr>
          <p:cNvPr name="Group 19" id="19"/>
          <p:cNvGrpSpPr/>
          <p:nvPr/>
        </p:nvGrpSpPr>
        <p:grpSpPr>
          <a:xfrm rot="0">
            <a:off x="13894218" y="3841598"/>
            <a:ext cx="3086100" cy="3766124"/>
            <a:chOff x="0" y="0"/>
            <a:chExt cx="812800" cy="991901"/>
          </a:xfrm>
        </p:grpSpPr>
        <p:sp>
          <p:nvSpPr>
            <p:cNvPr name="Freeform 20" id="20"/>
            <p:cNvSpPr/>
            <p:nvPr/>
          </p:nvSpPr>
          <p:spPr>
            <a:xfrm flipH="false" flipV="false" rot="0">
              <a:off x="0" y="0"/>
              <a:ext cx="812800" cy="991901"/>
            </a:xfrm>
            <a:custGeom>
              <a:avLst/>
              <a:gdLst/>
              <a:ahLst/>
              <a:cxnLst/>
              <a:rect r="r" b="b" t="t" l="l"/>
              <a:pathLst>
                <a:path h="991901" w="812800">
                  <a:moveTo>
                    <a:pt x="127941" y="0"/>
                  </a:moveTo>
                  <a:lnTo>
                    <a:pt x="684859" y="0"/>
                  </a:lnTo>
                  <a:cubicBezTo>
                    <a:pt x="718791" y="0"/>
                    <a:pt x="751333" y="13479"/>
                    <a:pt x="775327" y="37473"/>
                  </a:cubicBezTo>
                  <a:cubicBezTo>
                    <a:pt x="799321" y="61467"/>
                    <a:pt x="812800" y="94009"/>
                    <a:pt x="812800" y="127941"/>
                  </a:cubicBezTo>
                  <a:lnTo>
                    <a:pt x="812800" y="863960"/>
                  </a:lnTo>
                  <a:cubicBezTo>
                    <a:pt x="812800" y="897892"/>
                    <a:pt x="799321" y="930434"/>
                    <a:pt x="775327" y="954428"/>
                  </a:cubicBezTo>
                  <a:cubicBezTo>
                    <a:pt x="751333" y="978422"/>
                    <a:pt x="718791" y="991901"/>
                    <a:pt x="684859" y="991901"/>
                  </a:cubicBezTo>
                  <a:lnTo>
                    <a:pt x="127941" y="991901"/>
                  </a:lnTo>
                  <a:cubicBezTo>
                    <a:pt x="94009" y="991901"/>
                    <a:pt x="61467" y="978422"/>
                    <a:pt x="37473" y="954428"/>
                  </a:cubicBezTo>
                  <a:cubicBezTo>
                    <a:pt x="13479" y="930434"/>
                    <a:pt x="0" y="897892"/>
                    <a:pt x="0" y="863960"/>
                  </a:cubicBezTo>
                  <a:lnTo>
                    <a:pt x="0" y="127941"/>
                  </a:lnTo>
                  <a:cubicBezTo>
                    <a:pt x="0" y="94009"/>
                    <a:pt x="13479" y="61467"/>
                    <a:pt x="37473" y="37473"/>
                  </a:cubicBezTo>
                  <a:cubicBezTo>
                    <a:pt x="61467" y="13479"/>
                    <a:pt x="94009" y="0"/>
                    <a:pt x="127941" y="0"/>
                  </a:cubicBezTo>
                  <a:close/>
                </a:path>
              </a:pathLst>
            </a:custGeom>
            <a:solidFill>
              <a:srgbClr val="00183B"/>
            </a:solidFill>
          </p:spPr>
        </p:sp>
        <p:sp>
          <p:nvSpPr>
            <p:cNvPr name="TextBox 21" id="21"/>
            <p:cNvSpPr txBox="true"/>
            <p:nvPr/>
          </p:nvSpPr>
          <p:spPr>
            <a:xfrm>
              <a:off x="0" y="-38100"/>
              <a:ext cx="812800" cy="1030001"/>
            </a:xfrm>
            <a:prstGeom prst="rect">
              <a:avLst/>
            </a:prstGeom>
          </p:spPr>
          <p:txBody>
            <a:bodyPr anchor="ctr" rtlCol="false" tIns="50800" lIns="50800" bIns="50800" rIns="50800"/>
            <a:lstStyle/>
            <a:p>
              <a:pPr algn="ctr">
                <a:lnSpc>
                  <a:spcPts val="1774"/>
                </a:lnSpc>
              </a:pPr>
            </a:p>
          </p:txBody>
        </p:sp>
      </p:grpSp>
      <p:sp>
        <p:nvSpPr>
          <p:cNvPr name="Freeform 22" id="22"/>
          <p:cNvSpPr/>
          <p:nvPr/>
        </p:nvSpPr>
        <p:spPr>
          <a:xfrm flipH="false" flipV="false" rot="0">
            <a:off x="14542844" y="4799405"/>
            <a:ext cx="1788848" cy="1788848"/>
          </a:xfrm>
          <a:custGeom>
            <a:avLst/>
            <a:gdLst/>
            <a:ahLst/>
            <a:cxnLst/>
            <a:rect r="r" b="b" t="t" l="l"/>
            <a:pathLst>
              <a:path h="1788848" w="1788848">
                <a:moveTo>
                  <a:pt x="0" y="0"/>
                </a:moveTo>
                <a:lnTo>
                  <a:pt x="1788848" y="0"/>
                </a:lnTo>
                <a:lnTo>
                  <a:pt x="1788848" y="1788848"/>
                </a:lnTo>
                <a:lnTo>
                  <a:pt x="0" y="1788848"/>
                </a:lnTo>
                <a:lnTo>
                  <a:pt x="0" y="0"/>
                </a:lnTo>
                <a:close/>
              </a:path>
            </a:pathLst>
          </a:custGeom>
          <a:blipFill>
            <a:blip r:embed="rId7"/>
            <a:stretch>
              <a:fillRect l="0" t="0" r="0" b="0"/>
            </a:stretch>
          </a:blipFill>
        </p:spPr>
      </p:sp>
      <p:grpSp>
        <p:nvGrpSpPr>
          <p:cNvPr name="Group 23" id="23"/>
          <p:cNvGrpSpPr/>
          <p:nvPr/>
        </p:nvGrpSpPr>
        <p:grpSpPr>
          <a:xfrm rot="0">
            <a:off x="4433228" y="5515709"/>
            <a:ext cx="666480" cy="666480"/>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FEFEFE"/>
            </a:solidFill>
          </p:spPr>
        </p:sp>
        <p:sp>
          <p:nvSpPr>
            <p:cNvPr name="TextBox 25" id="25"/>
            <p:cNvSpPr txBox="true"/>
            <p:nvPr/>
          </p:nvSpPr>
          <p:spPr>
            <a:xfrm>
              <a:off x="0" y="165100"/>
              <a:ext cx="711200" cy="444500"/>
            </a:xfrm>
            <a:prstGeom prst="rect">
              <a:avLst/>
            </a:prstGeom>
          </p:spPr>
          <p:txBody>
            <a:bodyPr anchor="ctr" rtlCol="false" tIns="50800" lIns="50800" bIns="50800" rIns="50800"/>
            <a:lstStyle/>
            <a:p>
              <a:pPr algn="ctr">
                <a:lnSpc>
                  <a:spcPts val="1774"/>
                </a:lnSpc>
              </a:pPr>
            </a:p>
          </p:txBody>
        </p:sp>
      </p:grpSp>
      <p:sp>
        <p:nvSpPr>
          <p:cNvPr name="TextBox 26" id="26"/>
          <p:cNvSpPr txBox="true"/>
          <p:nvPr/>
        </p:nvSpPr>
        <p:spPr>
          <a:xfrm rot="0">
            <a:off x="1028700" y="472861"/>
            <a:ext cx="16230600" cy="1190006"/>
          </a:xfrm>
          <a:prstGeom prst="rect">
            <a:avLst/>
          </a:prstGeom>
        </p:spPr>
        <p:txBody>
          <a:bodyPr anchor="t" rtlCol="false" tIns="0" lIns="0" bIns="0" rIns="0">
            <a:spAutoFit/>
          </a:bodyPr>
          <a:lstStyle/>
          <a:p>
            <a:pPr algn="ctr" marL="0" indent="0" lvl="0">
              <a:lnSpc>
                <a:spcPts val="9451"/>
              </a:lnSpc>
              <a:spcBef>
                <a:spcPct val="0"/>
              </a:spcBef>
            </a:pPr>
            <a:r>
              <a:rPr lang="en-US" b="true" sz="7621" spc="144">
                <a:solidFill>
                  <a:srgbClr val="FFFFFF"/>
                </a:solidFill>
                <a:latin typeface="Muli Heavy"/>
                <a:ea typeface="Muli Heavy"/>
                <a:cs typeface="Muli Heavy"/>
                <a:sym typeface="Muli Heavy"/>
              </a:rPr>
              <a:t>ARQUITECTURA DE SOFTWARE</a:t>
            </a:r>
          </a:p>
        </p:txBody>
      </p:sp>
      <p:sp>
        <p:nvSpPr>
          <p:cNvPr name="TextBox 27" id="27"/>
          <p:cNvSpPr txBox="true"/>
          <p:nvPr/>
        </p:nvSpPr>
        <p:spPr>
          <a:xfrm rot="0">
            <a:off x="1790394" y="6669190"/>
            <a:ext cx="2199568" cy="475160"/>
          </a:xfrm>
          <a:prstGeom prst="rect">
            <a:avLst/>
          </a:prstGeom>
        </p:spPr>
        <p:txBody>
          <a:bodyPr anchor="t" rtlCol="false" tIns="0" lIns="0" bIns="0" rIns="0">
            <a:spAutoFit/>
          </a:bodyPr>
          <a:lstStyle/>
          <a:p>
            <a:pPr algn="ctr" marL="0" indent="0" lvl="0">
              <a:lnSpc>
                <a:spcPts val="4033"/>
              </a:lnSpc>
              <a:spcBef>
                <a:spcPct val="0"/>
              </a:spcBef>
            </a:pPr>
            <a:r>
              <a:rPr lang="en-US" b="true" sz="2520">
                <a:solidFill>
                  <a:srgbClr val="FFFFFF"/>
                </a:solidFill>
                <a:latin typeface="TT Interphases Bold"/>
                <a:ea typeface="TT Interphases Bold"/>
                <a:cs typeface="TT Interphases Bold"/>
                <a:sym typeface="TT Interphases Bold"/>
              </a:rPr>
              <a:t>N</a:t>
            </a:r>
            <a:r>
              <a:rPr lang="en-US" b="true" sz="2520" strike="noStrike" u="none">
                <a:solidFill>
                  <a:srgbClr val="FFFFFF"/>
                </a:solidFill>
                <a:latin typeface="TT Interphases Bold"/>
                <a:ea typeface="TT Interphases Bold"/>
                <a:cs typeface="TT Interphases Bold"/>
                <a:sym typeface="TT Interphases Bold"/>
              </a:rPr>
              <a:t>ext.js</a:t>
            </a:r>
          </a:p>
        </p:txBody>
      </p:sp>
      <p:sp>
        <p:nvSpPr>
          <p:cNvPr name="TextBox 28" id="28"/>
          <p:cNvSpPr txBox="true"/>
          <p:nvPr/>
        </p:nvSpPr>
        <p:spPr>
          <a:xfrm rot="0">
            <a:off x="5731452" y="6528586"/>
            <a:ext cx="2199568" cy="475160"/>
          </a:xfrm>
          <a:prstGeom prst="rect">
            <a:avLst/>
          </a:prstGeom>
        </p:spPr>
        <p:txBody>
          <a:bodyPr anchor="t" rtlCol="false" tIns="0" lIns="0" bIns="0" rIns="0">
            <a:spAutoFit/>
          </a:bodyPr>
          <a:lstStyle/>
          <a:p>
            <a:pPr algn="ctr" marL="0" indent="0" lvl="0">
              <a:lnSpc>
                <a:spcPts val="4033"/>
              </a:lnSpc>
              <a:spcBef>
                <a:spcPct val="0"/>
              </a:spcBef>
            </a:pPr>
            <a:r>
              <a:rPr lang="en-US" b="true" sz="2520">
                <a:solidFill>
                  <a:srgbClr val="FFFFFF"/>
                </a:solidFill>
                <a:latin typeface="TT Interphases Bold"/>
                <a:ea typeface="TT Interphases Bold"/>
                <a:cs typeface="TT Interphases Bold"/>
                <a:sym typeface="TT Interphases Bold"/>
              </a:rPr>
              <a:t>Firestore</a:t>
            </a:r>
          </a:p>
        </p:txBody>
      </p:sp>
      <p:sp>
        <p:nvSpPr>
          <p:cNvPr name="TextBox 29" id="29"/>
          <p:cNvSpPr txBox="true"/>
          <p:nvPr/>
        </p:nvSpPr>
        <p:spPr>
          <a:xfrm rot="0">
            <a:off x="8197720" y="6528586"/>
            <a:ext cx="2199568" cy="475160"/>
          </a:xfrm>
          <a:prstGeom prst="rect">
            <a:avLst/>
          </a:prstGeom>
        </p:spPr>
        <p:txBody>
          <a:bodyPr anchor="t" rtlCol="false" tIns="0" lIns="0" bIns="0" rIns="0">
            <a:spAutoFit/>
          </a:bodyPr>
          <a:lstStyle/>
          <a:p>
            <a:pPr algn="ctr" marL="0" indent="0" lvl="0">
              <a:lnSpc>
                <a:spcPts val="4033"/>
              </a:lnSpc>
              <a:spcBef>
                <a:spcPct val="0"/>
              </a:spcBef>
            </a:pPr>
            <a:r>
              <a:rPr lang="en-US" b="true" sz="2520">
                <a:solidFill>
                  <a:srgbClr val="FFFFFF"/>
                </a:solidFill>
                <a:latin typeface="TT Interphases Bold"/>
                <a:ea typeface="TT Interphases Bold"/>
                <a:cs typeface="TT Interphases Bold"/>
                <a:sym typeface="TT Interphases Bold"/>
              </a:rPr>
              <a:t>Storage</a:t>
            </a:r>
          </a:p>
        </p:txBody>
      </p:sp>
      <p:sp>
        <p:nvSpPr>
          <p:cNvPr name="TextBox 30" id="30"/>
          <p:cNvSpPr txBox="true"/>
          <p:nvPr/>
        </p:nvSpPr>
        <p:spPr>
          <a:xfrm rot="0">
            <a:off x="10662197" y="6528586"/>
            <a:ext cx="2199568" cy="475160"/>
          </a:xfrm>
          <a:prstGeom prst="rect">
            <a:avLst/>
          </a:prstGeom>
        </p:spPr>
        <p:txBody>
          <a:bodyPr anchor="t" rtlCol="false" tIns="0" lIns="0" bIns="0" rIns="0">
            <a:spAutoFit/>
          </a:bodyPr>
          <a:lstStyle/>
          <a:p>
            <a:pPr algn="ctr" marL="0" indent="0" lvl="0">
              <a:lnSpc>
                <a:spcPts val="4033"/>
              </a:lnSpc>
              <a:spcBef>
                <a:spcPct val="0"/>
              </a:spcBef>
            </a:pPr>
            <a:r>
              <a:rPr lang="en-US" b="true" sz="2520">
                <a:solidFill>
                  <a:srgbClr val="FFFFFF"/>
                </a:solidFill>
                <a:latin typeface="TT Interphases Bold"/>
                <a:ea typeface="TT Interphases Bold"/>
                <a:cs typeface="TT Interphases Bold"/>
                <a:sym typeface="TT Interphases Bold"/>
              </a:rPr>
              <a:t>Auth</a:t>
            </a:r>
          </a:p>
        </p:txBody>
      </p:sp>
      <p:sp>
        <p:nvSpPr>
          <p:cNvPr name="TextBox 31" id="31"/>
          <p:cNvSpPr txBox="true"/>
          <p:nvPr/>
        </p:nvSpPr>
        <p:spPr>
          <a:xfrm rot="0">
            <a:off x="14402700" y="6599751"/>
            <a:ext cx="2199568" cy="475160"/>
          </a:xfrm>
          <a:prstGeom prst="rect">
            <a:avLst/>
          </a:prstGeom>
        </p:spPr>
        <p:txBody>
          <a:bodyPr anchor="t" rtlCol="false" tIns="0" lIns="0" bIns="0" rIns="0">
            <a:spAutoFit/>
          </a:bodyPr>
          <a:lstStyle/>
          <a:p>
            <a:pPr algn="ctr" marL="0" indent="0" lvl="0">
              <a:lnSpc>
                <a:spcPts val="4033"/>
              </a:lnSpc>
              <a:spcBef>
                <a:spcPct val="0"/>
              </a:spcBef>
            </a:pPr>
            <a:r>
              <a:rPr lang="en-US" b="true" sz="2520">
                <a:solidFill>
                  <a:srgbClr val="FFFFFF"/>
                </a:solidFill>
                <a:latin typeface="TT Interphases Bold"/>
                <a:ea typeface="TT Interphases Bold"/>
                <a:cs typeface="TT Interphases Bold"/>
                <a:sym typeface="TT Interphases Bold"/>
              </a:rPr>
              <a:t>Versel</a:t>
            </a:r>
          </a:p>
        </p:txBody>
      </p:sp>
      <p:sp>
        <p:nvSpPr>
          <p:cNvPr name="TextBox 32" id="32"/>
          <p:cNvSpPr txBox="true"/>
          <p:nvPr/>
        </p:nvSpPr>
        <p:spPr>
          <a:xfrm rot="0">
            <a:off x="1790394" y="3978140"/>
            <a:ext cx="2199568" cy="696811"/>
          </a:xfrm>
          <a:prstGeom prst="rect">
            <a:avLst/>
          </a:prstGeom>
        </p:spPr>
        <p:txBody>
          <a:bodyPr anchor="t" rtlCol="false" tIns="0" lIns="0" bIns="0" rIns="0">
            <a:spAutoFit/>
          </a:bodyPr>
          <a:lstStyle/>
          <a:p>
            <a:pPr algn="ctr" marL="0" indent="0" lvl="0">
              <a:lnSpc>
                <a:spcPts val="5953"/>
              </a:lnSpc>
              <a:spcBef>
                <a:spcPct val="0"/>
              </a:spcBef>
            </a:pPr>
            <a:r>
              <a:rPr lang="en-US" b="true" sz="3720">
                <a:solidFill>
                  <a:srgbClr val="FFFFFF"/>
                </a:solidFill>
                <a:latin typeface="TT Interphases Bold"/>
                <a:ea typeface="TT Interphases Bold"/>
                <a:cs typeface="TT Interphases Bold"/>
                <a:sym typeface="TT Interphases Bold"/>
              </a:rPr>
              <a:t>FrontEnd</a:t>
            </a:r>
          </a:p>
        </p:txBody>
      </p:sp>
      <p:sp>
        <p:nvSpPr>
          <p:cNvPr name="TextBox 33" id="33"/>
          <p:cNvSpPr txBox="true"/>
          <p:nvPr/>
        </p:nvSpPr>
        <p:spPr>
          <a:xfrm rot="0">
            <a:off x="8039911" y="3978140"/>
            <a:ext cx="2199568" cy="696811"/>
          </a:xfrm>
          <a:prstGeom prst="rect">
            <a:avLst/>
          </a:prstGeom>
        </p:spPr>
        <p:txBody>
          <a:bodyPr anchor="t" rtlCol="false" tIns="0" lIns="0" bIns="0" rIns="0">
            <a:spAutoFit/>
          </a:bodyPr>
          <a:lstStyle/>
          <a:p>
            <a:pPr algn="ctr" marL="0" indent="0" lvl="0">
              <a:lnSpc>
                <a:spcPts val="5953"/>
              </a:lnSpc>
              <a:spcBef>
                <a:spcPct val="0"/>
              </a:spcBef>
            </a:pPr>
            <a:r>
              <a:rPr lang="en-US" b="true" sz="3720">
                <a:solidFill>
                  <a:srgbClr val="FFFFFF"/>
                </a:solidFill>
                <a:latin typeface="TT Interphases Bold"/>
                <a:ea typeface="TT Interphases Bold"/>
                <a:cs typeface="TT Interphases Bold"/>
                <a:sym typeface="TT Interphases Bold"/>
              </a:rPr>
              <a:t>BackEnd</a:t>
            </a:r>
          </a:p>
        </p:txBody>
      </p:sp>
      <p:sp>
        <p:nvSpPr>
          <p:cNvPr name="TextBox 34" id="34"/>
          <p:cNvSpPr txBox="true"/>
          <p:nvPr/>
        </p:nvSpPr>
        <p:spPr>
          <a:xfrm rot="0">
            <a:off x="14402700" y="3978140"/>
            <a:ext cx="2199568" cy="696811"/>
          </a:xfrm>
          <a:prstGeom prst="rect">
            <a:avLst/>
          </a:prstGeom>
        </p:spPr>
        <p:txBody>
          <a:bodyPr anchor="t" rtlCol="false" tIns="0" lIns="0" bIns="0" rIns="0">
            <a:spAutoFit/>
          </a:bodyPr>
          <a:lstStyle/>
          <a:p>
            <a:pPr algn="ctr" marL="0" indent="0" lvl="0">
              <a:lnSpc>
                <a:spcPts val="5953"/>
              </a:lnSpc>
              <a:spcBef>
                <a:spcPct val="0"/>
              </a:spcBef>
            </a:pPr>
            <a:r>
              <a:rPr lang="en-US" b="true" sz="3720">
                <a:solidFill>
                  <a:srgbClr val="FFFFFF"/>
                </a:solidFill>
                <a:latin typeface="TT Interphases Bold"/>
                <a:ea typeface="TT Interphases Bold"/>
                <a:cs typeface="TT Interphases Bold"/>
                <a:sym typeface="TT Interphases Bold"/>
              </a:rPr>
              <a:t>Hosting</a:t>
            </a:r>
          </a:p>
        </p:txBody>
      </p:sp>
      <p:grpSp>
        <p:nvGrpSpPr>
          <p:cNvPr name="Group 35" id="35"/>
          <p:cNvGrpSpPr/>
          <p:nvPr/>
        </p:nvGrpSpPr>
        <p:grpSpPr>
          <a:xfrm rot="0">
            <a:off x="13434470" y="5515709"/>
            <a:ext cx="666480" cy="666480"/>
            <a:chOff x="0" y="0"/>
            <a:chExt cx="812800" cy="812800"/>
          </a:xfrm>
        </p:grpSpPr>
        <p:sp>
          <p:nvSpPr>
            <p:cNvPr name="Freeform 36" id="36"/>
            <p:cNvSpPr/>
            <p:nvPr/>
          </p:nvSpPr>
          <p:spPr>
            <a:xfrm flipH="false" flipV="false" rot="0">
              <a:off x="0" y="0"/>
              <a:ext cx="812800" cy="812800"/>
            </a:xfrm>
            <a:custGeom>
              <a:avLst/>
              <a:gdLst/>
              <a:ahLst/>
              <a:cxnLst/>
              <a:rect r="r" b="b" t="t" l="l"/>
              <a:pathLst>
                <a:path h="812800" w="812800">
                  <a:moveTo>
                    <a:pt x="812800" y="406400"/>
                  </a:moveTo>
                  <a:lnTo>
                    <a:pt x="406400" y="0"/>
                  </a:lnTo>
                  <a:lnTo>
                    <a:pt x="406400" y="203200"/>
                  </a:lnTo>
                  <a:lnTo>
                    <a:pt x="0" y="203200"/>
                  </a:lnTo>
                  <a:lnTo>
                    <a:pt x="0" y="609600"/>
                  </a:lnTo>
                  <a:lnTo>
                    <a:pt x="406400" y="609600"/>
                  </a:lnTo>
                  <a:lnTo>
                    <a:pt x="406400" y="812800"/>
                  </a:lnTo>
                  <a:lnTo>
                    <a:pt x="812800" y="406400"/>
                  </a:lnTo>
                  <a:close/>
                </a:path>
              </a:pathLst>
            </a:custGeom>
            <a:solidFill>
              <a:srgbClr val="FEFEFE"/>
            </a:solidFill>
          </p:spPr>
        </p:sp>
        <p:sp>
          <p:nvSpPr>
            <p:cNvPr name="TextBox 37" id="37"/>
            <p:cNvSpPr txBox="true"/>
            <p:nvPr/>
          </p:nvSpPr>
          <p:spPr>
            <a:xfrm>
              <a:off x="0" y="165100"/>
              <a:ext cx="711200" cy="444500"/>
            </a:xfrm>
            <a:prstGeom prst="rect">
              <a:avLst/>
            </a:prstGeom>
          </p:spPr>
          <p:txBody>
            <a:bodyPr anchor="ctr" rtlCol="false" tIns="50800" lIns="50800" bIns="50800" rIns="50800"/>
            <a:lstStyle/>
            <a:p>
              <a:pPr algn="ctr">
                <a:lnSpc>
                  <a:spcPts val="1774"/>
                </a:lnSpc>
              </a:pP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5400000">
            <a:off x="6215584" y="-1871099"/>
            <a:ext cx="6711098" cy="20298041"/>
            <a:chOff x="0" y="0"/>
            <a:chExt cx="1767532" cy="5345986"/>
          </a:xfrm>
        </p:grpSpPr>
        <p:sp>
          <p:nvSpPr>
            <p:cNvPr name="Freeform 4" id="4"/>
            <p:cNvSpPr/>
            <p:nvPr/>
          </p:nvSpPr>
          <p:spPr>
            <a:xfrm flipH="false" flipV="false" rot="0">
              <a:off x="0" y="0"/>
              <a:ext cx="1767532" cy="5345986"/>
            </a:xfrm>
            <a:custGeom>
              <a:avLst/>
              <a:gdLst/>
              <a:ahLst/>
              <a:cxnLst/>
              <a:rect r="r" b="b" t="t" l="l"/>
              <a:pathLst>
                <a:path h="5345986" w="1767532">
                  <a:moveTo>
                    <a:pt x="32301" y="0"/>
                  </a:moveTo>
                  <a:lnTo>
                    <a:pt x="1735231" y="0"/>
                  </a:lnTo>
                  <a:cubicBezTo>
                    <a:pt x="1743798" y="0"/>
                    <a:pt x="1752014" y="3403"/>
                    <a:pt x="1758071" y="9461"/>
                  </a:cubicBezTo>
                  <a:cubicBezTo>
                    <a:pt x="1764129" y="15518"/>
                    <a:pt x="1767532" y="23734"/>
                    <a:pt x="1767532" y="32301"/>
                  </a:cubicBezTo>
                  <a:lnTo>
                    <a:pt x="1767532" y="5313685"/>
                  </a:lnTo>
                  <a:cubicBezTo>
                    <a:pt x="1767532" y="5322252"/>
                    <a:pt x="1764129" y="5330468"/>
                    <a:pt x="1758071" y="5336525"/>
                  </a:cubicBezTo>
                  <a:cubicBezTo>
                    <a:pt x="1752014" y="5342583"/>
                    <a:pt x="1743798" y="5345986"/>
                    <a:pt x="1735231" y="5345986"/>
                  </a:cubicBezTo>
                  <a:lnTo>
                    <a:pt x="32301" y="5345986"/>
                  </a:lnTo>
                  <a:cubicBezTo>
                    <a:pt x="23734" y="5345986"/>
                    <a:pt x="15518" y="5342583"/>
                    <a:pt x="9461" y="5336525"/>
                  </a:cubicBezTo>
                  <a:cubicBezTo>
                    <a:pt x="3403" y="5330468"/>
                    <a:pt x="0" y="5322252"/>
                    <a:pt x="0" y="5313685"/>
                  </a:cubicBezTo>
                  <a:lnTo>
                    <a:pt x="0" y="32301"/>
                  </a:lnTo>
                  <a:cubicBezTo>
                    <a:pt x="0" y="23734"/>
                    <a:pt x="3403" y="15518"/>
                    <a:pt x="9461" y="9461"/>
                  </a:cubicBezTo>
                  <a:cubicBezTo>
                    <a:pt x="15518" y="3403"/>
                    <a:pt x="23734" y="0"/>
                    <a:pt x="32301" y="0"/>
                  </a:cubicBezTo>
                  <a:close/>
                </a:path>
              </a:pathLst>
            </a:custGeom>
            <a:solidFill>
              <a:srgbClr val="000A1F">
                <a:alpha val="60000"/>
              </a:srgbClr>
            </a:solidFill>
          </p:spPr>
        </p:sp>
        <p:sp>
          <p:nvSpPr>
            <p:cNvPr name="TextBox 5" id="5"/>
            <p:cNvSpPr txBox="true"/>
            <p:nvPr/>
          </p:nvSpPr>
          <p:spPr>
            <a:xfrm>
              <a:off x="0" y="-38100"/>
              <a:ext cx="1767532" cy="5384086"/>
            </a:xfrm>
            <a:prstGeom prst="rect">
              <a:avLst/>
            </a:prstGeom>
          </p:spPr>
          <p:txBody>
            <a:bodyPr anchor="ctr" rtlCol="false" tIns="50800" lIns="50800" bIns="50800" rIns="50800"/>
            <a:lstStyle/>
            <a:p>
              <a:pPr algn="ctr">
                <a:lnSpc>
                  <a:spcPts val="1774"/>
                </a:lnSpc>
              </a:pPr>
            </a:p>
          </p:txBody>
        </p:sp>
      </p:grpSp>
      <p:grpSp>
        <p:nvGrpSpPr>
          <p:cNvPr name="Group 6" id="6"/>
          <p:cNvGrpSpPr/>
          <p:nvPr/>
        </p:nvGrpSpPr>
        <p:grpSpPr>
          <a:xfrm rot="5400000">
            <a:off x="7513282" y="-5317443"/>
            <a:ext cx="3216383" cy="10484709"/>
            <a:chOff x="0" y="0"/>
            <a:chExt cx="847113" cy="2761405"/>
          </a:xfrm>
        </p:grpSpPr>
        <p:sp>
          <p:nvSpPr>
            <p:cNvPr name="Freeform 7" id="7"/>
            <p:cNvSpPr/>
            <p:nvPr/>
          </p:nvSpPr>
          <p:spPr>
            <a:xfrm flipH="false" flipV="false" rot="0">
              <a:off x="0" y="0"/>
              <a:ext cx="847113" cy="2761405"/>
            </a:xfrm>
            <a:custGeom>
              <a:avLst/>
              <a:gdLst/>
              <a:ahLst/>
              <a:cxnLst/>
              <a:rect r="r" b="b" t="t" l="l"/>
              <a:pathLst>
                <a:path h="2761405" w="847113">
                  <a:moveTo>
                    <a:pt x="67397" y="0"/>
                  </a:moveTo>
                  <a:lnTo>
                    <a:pt x="779716" y="0"/>
                  </a:lnTo>
                  <a:cubicBezTo>
                    <a:pt x="816939" y="0"/>
                    <a:pt x="847113" y="30175"/>
                    <a:pt x="847113" y="67397"/>
                  </a:cubicBezTo>
                  <a:lnTo>
                    <a:pt x="847113" y="2694008"/>
                  </a:lnTo>
                  <a:cubicBezTo>
                    <a:pt x="847113" y="2731230"/>
                    <a:pt x="816939" y="2761405"/>
                    <a:pt x="779716" y="2761405"/>
                  </a:cubicBezTo>
                  <a:lnTo>
                    <a:pt x="67397" y="2761405"/>
                  </a:lnTo>
                  <a:cubicBezTo>
                    <a:pt x="30175" y="2761405"/>
                    <a:pt x="0" y="2731230"/>
                    <a:pt x="0" y="2694008"/>
                  </a:cubicBezTo>
                  <a:lnTo>
                    <a:pt x="0" y="67397"/>
                  </a:lnTo>
                  <a:cubicBezTo>
                    <a:pt x="0" y="30175"/>
                    <a:pt x="30175" y="0"/>
                    <a:pt x="67397" y="0"/>
                  </a:cubicBezTo>
                  <a:close/>
                </a:path>
              </a:pathLst>
            </a:custGeom>
            <a:solidFill>
              <a:srgbClr val="000A1F">
                <a:alpha val="60000"/>
              </a:srgbClr>
            </a:solidFill>
          </p:spPr>
        </p:sp>
        <p:sp>
          <p:nvSpPr>
            <p:cNvPr name="TextBox 8" id="8"/>
            <p:cNvSpPr txBox="true"/>
            <p:nvPr/>
          </p:nvSpPr>
          <p:spPr>
            <a:xfrm>
              <a:off x="0" y="-38100"/>
              <a:ext cx="847113" cy="2799505"/>
            </a:xfrm>
            <a:prstGeom prst="rect">
              <a:avLst/>
            </a:prstGeom>
          </p:spPr>
          <p:txBody>
            <a:bodyPr anchor="ctr" rtlCol="false" tIns="50800" lIns="50800" bIns="50800" rIns="50800"/>
            <a:lstStyle/>
            <a:p>
              <a:pPr algn="ctr">
                <a:lnSpc>
                  <a:spcPts val="1774"/>
                </a:lnSpc>
              </a:pPr>
            </a:p>
          </p:txBody>
        </p:sp>
      </p:grpSp>
      <p:sp>
        <p:nvSpPr>
          <p:cNvPr name="Freeform 9" id="9"/>
          <p:cNvSpPr/>
          <p:nvPr/>
        </p:nvSpPr>
        <p:spPr>
          <a:xfrm flipH="false" flipV="false" rot="0">
            <a:off x="2614118" y="1533103"/>
            <a:ext cx="13059763" cy="8603119"/>
          </a:xfrm>
          <a:custGeom>
            <a:avLst/>
            <a:gdLst/>
            <a:ahLst/>
            <a:cxnLst/>
            <a:rect r="r" b="b" t="t" l="l"/>
            <a:pathLst>
              <a:path h="8603119" w="13059763">
                <a:moveTo>
                  <a:pt x="0" y="0"/>
                </a:moveTo>
                <a:lnTo>
                  <a:pt x="13059764" y="0"/>
                </a:lnTo>
                <a:lnTo>
                  <a:pt x="13059764" y="8603119"/>
                </a:lnTo>
                <a:lnTo>
                  <a:pt x="0" y="8603119"/>
                </a:lnTo>
                <a:lnTo>
                  <a:pt x="0" y="0"/>
                </a:lnTo>
                <a:close/>
              </a:path>
            </a:pathLst>
          </a:custGeom>
          <a:blipFill>
            <a:blip r:embed="rId3"/>
            <a:stretch>
              <a:fillRect l="0" t="0" r="0" b="0"/>
            </a:stretch>
          </a:blipFill>
        </p:spPr>
      </p:sp>
      <p:sp>
        <p:nvSpPr>
          <p:cNvPr name="TextBox 10" id="10"/>
          <p:cNvSpPr txBox="true"/>
          <p:nvPr/>
        </p:nvSpPr>
        <p:spPr>
          <a:xfrm rot="0">
            <a:off x="4460372" y="225228"/>
            <a:ext cx="9367255" cy="1097804"/>
          </a:xfrm>
          <a:prstGeom prst="rect">
            <a:avLst/>
          </a:prstGeom>
        </p:spPr>
        <p:txBody>
          <a:bodyPr anchor="t" rtlCol="false" tIns="0" lIns="0" bIns="0" rIns="0">
            <a:spAutoFit/>
          </a:bodyPr>
          <a:lstStyle/>
          <a:p>
            <a:pPr algn="ctr" marL="0" indent="0" lvl="0">
              <a:lnSpc>
                <a:spcPts val="8707"/>
              </a:lnSpc>
              <a:spcBef>
                <a:spcPct val="0"/>
              </a:spcBef>
            </a:pPr>
            <a:r>
              <a:rPr lang="en-US" b="true" sz="7021" spc="133">
                <a:solidFill>
                  <a:srgbClr val="FFFFFF"/>
                </a:solidFill>
                <a:latin typeface="Muli Heavy"/>
                <a:ea typeface="Muli Heavy"/>
                <a:cs typeface="Muli Heavy"/>
                <a:sym typeface="Muli Heavy"/>
              </a:rPr>
              <a:t>MODELO DE DATOS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2206218">
            <a:off x="6149330" y="2347741"/>
            <a:ext cx="948925" cy="948925"/>
            <a:chOff x="0" y="0"/>
            <a:chExt cx="812800" cy="812800"/>
          </a:xfrm>
        </p:grpSpPr>
        <p:sp>
          <p:nvSpPr>
            <p:cNvPr name="Freeform 4" id="4"/>
            <p:cNvSpPr/>
            <p:nvPr/>
          </p:nvSpPr>
          <p:spPr>
            <a:xfrm flipH="false" flipV="false" rot="0">
              <a:off x="0" y="0"/>
              <a:ext cx="812800" cy="812800"/>
            </a:xfrm>
            <a:custGeom>
              <a:avLst/>
              <a:gdLst/>
              <a:ahLst/>
              <a:cxnLst/>
              <a:rect r="r" b="b" t="t" l="l"/>
              <a:pathLst>
                <a:path h="812800" w="812800">
                  <a:moveTo>
                    <a:pt x="0" y="406400"/>
                  </a:moveTo>
                  <a:lnTo>
                    <a:pt x="406400" y="0"/>
                  </a:lnTo>
                  <a:lnTo>
                    <a:pt x="406400" y="203200"/>
                  </a:lnTo>
                  <a:lnTo>
                    <a:pt x="812800" y="203200"/>
                  </a:lnTo>
                  <a:lnTo>
                    <a:pt x="812800" y="609600"/>
                  </a:lnTo>
                  <a:lnTo>
                    <a:pt x="406400" y="609600"/>
                  </a:lnTo>
                  <a:lnTo>
                    <a:pt x="406400" y="812800"/>
                  </a:lnTo>
                  <a:lnTo>
                    <a:pt x="0" y="406400"/>
                  </a:lnTo>
                  <a:close/>
                </a:path>
              </a:pathLst>
            </a:custGeom>
            <a:solidFill>
              <a:srgbClr val="FFFFFF"/>
            </a:solidFill>
          </p:spPr>
        </p:sp>
        <p:sp>
          <p:nvSpPr>
            <p:cNvPr name="TextBox 5" id="5"/>
            <p:cNvSpPr txBox="true"/>
            <p:nvPr/>
          </p:nvSpPr>
          <p:spPr>
            <a:xfrm>
              <a:off x="101600" y="165100"/>
              <a:ext cx="711200" cy="444500"/>
            </a:xfrm>
            <a:prstGeom prst="rect">
              <a:avLst/>
            </a:prstGeom>
          </p:spPr>
          <p:txBody>
            <a:bodyPr anchor="ctr" rtlCol="false" tIns="50800" lIns="50800" bIns="50800" rIns="50800"/>
            <a:lstStyle/>
            <a:p>
              <a:pPr algn="ctr">
                <a:lnSpc>
                  <a:spcPts val="1774"/>
                </a:lnSpc>
              </a:pPr>
            </a:p>
          </p:txBody>
        </p:sp>
      </p:grpSp>
      <p:grpSp>
        <p:nvGrpSpPr>
          <p:cNvPr name="Group 6" id="6"/>
          <p:cNvGrpSpPr/>
          <p:nvPr/>
        </p:nvGrpSpPr>
        <p:grpSpPr>
          <a:xfrm rot="-2207999">
            <a:off x="6149330" y="6990285"/>
            <a:ext cx="948925" cy="948925"/>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0" y="406400"/>
                  </a:moveTo>
                  <a:lnTo>
                    <a:pt x="406400" y="0"/>
                  </a:lnTo>
                  <a:lnTo>
                    <a:pt x="406400" y="203200"/>
                  </a:lnTo>
                  <a:lnTo>
                    <a:pt x="812800" y="203200"/>
                  </a:lnTo>
                  <a:lnTo>
                    <a:pt x="812800" y="609600"/>
                  </a:lnTo>
                  <a:lnTo>
                    <a:pt x="406400" y="609600"/>
                  </a:lnTo>
                  <a:lnTo>
                    <a:pt x="406400" y="812800"/>
                  </a:lnTo>
                  <a:lnTo>
                    <a:pt x="0" y="406400"/>
                  </a:lnTo>
                  <a:close/>
                </a:path>
              </a:pathLst>
            </a:custGeom>
            <a:solidFill>
              <a:srgbClr val="FFFFFF"/>
            </a:solidFill>
          </p:spPr>
        </p:sp>
        <p:sp>
          <p:nvSpPr>
            <p:cNvPr name="TextBox 8" id="8"/>
            <p:cNvSpPr txBox="true"/>
            <p:nvPr/>
          </p:nvSpPr>
          <p:spPr>
            <a:xfrm>
              <a:off x="101600" y="165100"/>
              <a:ext cx="711200" cy="444500"/>
            </a:xfrm>
            <a:prstGeom prst="rect">
              <a:avLst/>
            </a:prstGeom>
          </p:spPr>
          <p:txBody>
            <a:bodyPr anchor="ctr" rtlCol="false" tIns="50800" lIns="50800" bIns="50800" rIns="50800"/>
            <a:lstStyle/>
            <a:p>
              <a:pPr algn="ctr">
                <a:lnSpc>
                  <a:spcPts val="1774"/>
                </a:lnSpc>
              </a:pPr>
            </a:p>
          </p:txBody>
        </p:sp>
      </p:grpSp>
      <p:grpSp>
        <p:nvGrpSpPr>
          <p:cNvPr name="Group 9" id="9"/>
          <p:cNvGrpSpPr/>
          <p:nvPr/>
        </p:nvGrpSpPr>
        <p:grpSpPr>
          <a:xfrm rot="-8593781">
            <a:off x="11189745" y="6990334"/>
            <a:ext cx="948925" cy="948925"/>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0" y="406400"/>
                  </a:moveTo>
                  <a:lnTo>
                    <a:pt x="406400" y="0"/>
                  </a:lnTo>
                  <a:lnTo>
                    <a:pt x="406400" y="203200"/>
                  </a:lnTo>
                  <a:lnTo>
                    <a:pt x="812800" y="203200"/>
                  </a:lnTo>
                  <a:lnTo>
                    <a:pt x="812800" y="609600"/>
                  </a:lnTo>
                  <a:lnTo>
                    <a:pt x="406400" y="609600"/>
                  </a:lnTo>
                  <a:lnTo>
                    <a:pt x="406400" y="812800"/>
                  </a:lnTo>
                  <a:lnTo>
                    <a:pt x="0" y="406400"/>
                  </a:lnTo>
                  <a:close/>
                </a:path>
              </a:pathLst>
            </a:custGeom>
            <a:solidFill>
              <a:srgbClr val="FFFFFF"/>
            </a:solidFill>
          </p:spPr>
        </p:sp>
        <p:sp>
          <p:nvSpPr>
            <p:cNvPr name="TextBox 11" id="11"/>
            <p:cNvSpPr txBox="true"/>
            <p:nvPr/>
          </p:nvSpPr>
          <p:spPr>
            <a:xfrm>
              <a:off x="101600" y="165100"/>
              <a:ext cx="711200" cy="444500"/>
            </a:xfrm>
            <a:prstGeom prst="rect">
              <a:avLst/>
            </a:prstGeom>
          </p:spPr>
          <p:txBody>
            <a:bodyPr anchor="ctr" rtlCol="false" tIns="50800" lIns="50800" bIns="50800" rIns="50800"/>
            <a:lstStyle/>
            <a:p>
              <a:pPr algn="ctr">
                <a:lnSpc>
                  <a:spcPts val="1774"/>
                </a:lnSpc>
              </a:pPr>
            </a:p>
          </p:txBody>
        </p:sp>
      </p:grpSp>
      <p:grpSp>
        <p:nvGrpSpPr>
          <p:cNvPr name="Group 12" id="12"/>
          <p:cNvGrpSpPr/>
          <p:nvPr/>
        </p:nvGrpSpPr>
        <p:grpSpPr>
          <a:xfrm rot="8592000">
            <a:off x="11189745" y="2347790"/>
            <a:ext cx="948925" cy="94892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0" y="406400"/>
                  </a:moveTo>
                  <a:lnTo>
                    <a:pt x="406400" y="0"/>
                  </a:lnTo>
                  <a:lnTo>
                    <a:pt x="406400" y="203200"/>
                  </a:lnTo>
                  <a:lnTo>
                    <a:pt x="812800" y="203200"/>
                  </a:lnTo>
                  <a:lnTo>
                    <a:pt x="812800" y="609600"/>
                  </a:lnTo>
                  <a:lnTo>
                    <a:pt x="406400" y="609600"/>
                  </a:lnTo>
                  <a:lnTo>
                    <a:pt x="406400" y="812800"/>
                  </a:lnTo>
                  <a:lnTo>
                    <a:pt x="0" y="406400"/>
                  </a:lnTo>
                  <a:close/>
                </a:path>
              </a:pathLst>
            </a:custGeom>
            <a:solidFill>
              <a:srgbClr val="FFFFFF"/>
            </a:solidFill>
          </p:spPr>
        </p:sp>
        <p:sp>
          <p:nvSpPr>
            <p:cNvPr name="TextBox 14" id="14"/>
            <p:cNvSpPr txBox="true"/>
            <p:nvPr/>
          </p:nvSpPr>
          <p:spPr>
            <a:xfrm>
              <a:off x="101600" y="165100"/>
              <a:ext cx="711200" cy="444500"/>
            </a:xfrm>
            <a:prstGeom prst="rect">
              <a:avLst/>
            </a:prstGeom>
          </p:spPr>
          <p:txBody>
            <a:bodyPr anchor="ctr" rtlCol="false" tIns="50800" lIns="50800" bIns="50800" rIns="50800"/>
            <a:lstStyle/>
            <a:p>
              <a:pPr algn="ctr">
                <a:lnSpc>
                  <a:spcPts val="1774"/>
                </a:lnSpc>
              </a:pPr>
            </a:p>
          </p:txBody>
        </p:sp>
      </p:grpSp>
      <p:grpSp>
        <p:nvGrpSpPr>
          <p:cNvPr name="Group 15" id="15"/>
          <p:cNvGrpSpPr/>
          <p:nvPr/>
        </p:nvGrpSpPr>
        <p:grpSpPr>
          <a:xfrm rot="0">
            <a:off x="4915486" y="4669037"/>
            <a:ext cx="948925" cy="948925"/>
            <a:chOff x="0" y="0"/>
            <a:chExt cx="812800" cy="812800"/>
          </a:xfrm>
        </p:grpSpPr>
        <p:sp>
          <p:nvSpPr>
            <p:cNvPr name="Freeform 16" id="16"/>
            <p:cNvSpPr/>
            <p:nvPr/>
          </p:nvSpPr>
          <p:spPr>
            <a:xfrm flipH="false" flipV="false" rot="0">
              <a:off x="0" y="0"/>
              <a:ext cx="812800" cy="812800"/>
            </a:xfrm>
            <a:custGeom>
              <a:avLst/>
              <a:gdLst/>
              <a:ahLst/>
              <a:cxnLst/>
              <a:rect r="r" b="b" t="t" l="l"/>
              <a:pathLst>
                <a:path h="812800" w="812800">
                  <a:moveTo>
                    <a:pt x="0" y="406400"/>
                  </a:moveTo>
                  <a:lnTo>
                    <a:pt x="406400" y="0"/>
                  </a:lnTo>
                  <a:lnTo>
                    <a:pt x="406400" y="203200"/>
                  </a:lnTo>
                  <a:lnTo>
                    <a:pt x="812800" y="203200"/>
                  </a:lnTo>
                  <a:lnTo>
                    <a:pt x="812800" y="609600"/>
                  </a:lnTo>
                  <a:lnTo>
                    <a:pt x="406400" y="609600"/>
                  </a:lnTo>
                  <a:lnTo>
                    <a:pt x="406400" y="812800"/>
                  </a:lnTo>
                  <a:lnTo>
                    <a:pt x="0" y="406400"/>
                  </a:lnTo>
                  <a:close/>
                </a:path>
              </a:pathLst>
            </a:custGeom>
            <a:solidFill>
              <a:srgbClr val="FFFFFF"/>
            </a:solidFill>
          </p:spPr>
        </p:sp>
        <p:sp>
          <p:nvSpPr>
            <p:cNvPr name="TextBox 17" id="17"/>
            <p:cNvSpPr txBox="true"/>
            <p:nvPr/>
          </p:nvSpPr>
          <p:spPr>
            <a:xfrm>
              <a:off x="101600" y="165100"/>
              <a:ext cx="711200" cy="444500"/>
            </a:xfrm>
            <a:prstGeom prst="rect">
              <a:avLst/>
            </a:prstGeom>
          </p:spPr>
          <p:txBody>
            <a:bodyPr anchor="ctr" rtlCol="false" tIns="50800" lIns="50800" bIns="50800" rIns="50800"/>
            <a:lstStyle/>
            <a:p>
              <a:pPr algn="ctr">
                <a:lnSpc>
                  <a:spcPts val="1774"/>
                </a:lnSpc>
              </a:pPr>
            </a:p>
          </p:txBody>
        </p:sp>
      </p:grpSp>
      <p:grpSp>
        <p:nvGrpSpPr>
          <p:cNvPr name="Group 18" id="18"/>
          <p:cNvGrpSpPr/>
          <p:nvPr/>
        </p:nvGrpSpPr>
        <p:grpSpPr>
          <a:xfrm rot="0">
            <a:off x="1941292" y="7261518"/>
            <a:ext cx="3605740" cy="607982"/>
            <a:chOff x="0" y="0"/>
            <a:chExt cx="2410223" cy="406400"/>
          </a:xfrm>
        </p:grpSpPr>
        <p:sp>
          <p:nvSpPr>
            <p:cNvPr name="Freeform 19" id="19"/>
            <p:cNvSpPr/>
            <p:nvPr/>
          </p:nvSpPr>
          <p:spPr>
            <a:xfrm flipH="false" flipV="false" rot="0">
              <a:off x="0" y="0"/>
              <a:ext cx="2410223" cy="406400"/>
            </a:xfrm>
            <a:custGeom>
              <a:avLst/>
              <a:gdLst/>
              <a:ahLst/>
              <a:cxnLst/>
              <a:rect r="r" b="b" t="t" l="l"/>
              <a:pathLst>
                <a:path h="406400" w="2410223">
                  <a:moveTo>
                    <a:pt x="2207023" y="0"/>
                  </a:moveTo>
                  <a:cubicBezTo>
                    <a:pt x="2319247" y="0"/>
                    <a:pt x="2410223" y="90976"/>
                    <a:pt x="2410223" y="203200"/>
                  </a:cubicBezTo>
                  <a:cubicBezTo>
                    <a:pt x="2410223" y="315424"/>
                    <a:pt x="2319247" y="406400"/>
                    <a:pt x="2207023" y="406400"/>
                  </a:cubicBezTo>
                  <a:lnTo>
                    <a:pt x="203200" y="406400"/>
                  </a:lnTo>
                  <a:cubicBezTo>
                    <a:pt x="90976" y="406400"/>
                    <a:pt x="0" y="315424"/>
                    <a:pt x="0" y="203200"/>
                  </a:cubicBezTo>
                  <a:cubicBezTo>
                    <a:pt x="0" y="90976"/>
                    <a:pt x="90976" y="0"/>
                    <a:pt x="203200" y="0"/>
                  </a:cubicBezTo>
                  <a:close/>
                </a:path>
              </a:pathLst>
            </a:custGeom>
            <a:solidFill>
              <a:srgbClr val="FFFFFF"/>
            </a:solidFill>
          </p:spPr>
        </p:sp>
        <p:sp>
          <p:nvSpPr>
            <p:cNvPr name="TextBox 20" id="20"/>
            <p:cNvSpPr txBox="true"/>
            <p:nvPr/>
          </p:nvSpPr>
          <p:spPr>
            <a:xfrm>
              <a:off x="0" y="-28575"/>
              <a:ext cx="2410223" cy="434975"/>
            </a:xfrm>
            <a:prstGeom prst="rect">
              <a:avLst/>
            </a:prstGeom>
          </p:spPr>
          <p:txBody>
            <a:bodyPr anchor="ctr" rtlCol="false" tIns="50800" lIns="50800" bIns="50800" rIns="50800"/>
            <a:lstStyle/>
            <a:p>
              <a:pPr algn="ctr">
                <a:lnSpc>
                  <a:spcPts val="1384"/>
                </a:lnSpc>
              </a:pPr>
            </a:p>
          </p:txBody>
        </p:sp>
      </p:grpSp>
      <p:grpSp>
        <p:nvGrpSpPr>
          <p:cNvPr name="Group 21" id="21"/>
          <p:cNvGrpSpPr/>
          <p:nvPr/>
        </p:nvGrpSpPr>
        <p:grpSpPr>
          <a:xfrm rot="0">
            <a:off x="12643607" y="7261518"/>
            <a:ext cx="3605740" cy="607982"/>
            <a:chOff x="0" y="0"/>
            <a:chExt cx="2410223" cy="406400"/>
          </a:xfrm>
        </p:grpSpPr>
        <p:sp>
          <p:nvSpPr>
            <p:cNvPr name="Freeform 22" id="22"/>
            <p:cNvSpPr/>
            <p:nvPr/>
          </p:nvSpPr>
          <p:spPr>
            <a:xfrm flipH="false" flipV="false" rot="0">
              <a:off x="0" y="0"/>
              <a:ext cx="2410223" cy="406400"/>
            </a:xfrm>
            <a:custGeom>
              <a:avLst/>
              <a:gdLst/>
              <a:ahLst/>
              <a:cxnLst/>
              <a:rect r="r" b="b" t="t" l="l"/>
              <a:pathLst>
                <a:path h="406400" w="2410223">
                  <a:moveTo>
                    <a:pt x="2207023" y="0"/>
                  </a:moveTo>
                  <a:cubicBezTo>
                    <a:pt x="2319247" y="0"/>
                    <a:pt x="2410223" y="90976"/>
                    <a:pt x="2410223" y="203200"/>
                  </a:cubicBezTo>
                  <a:cubicBezTo>
                    <a:pt x="2410223" y="315424"/>
                    <a:pt x="2319247" y="406400"/>
                    <a:pt x="2207023" y="406400"/>
                  </a:cubicBezTo>
                  <a:lnTo>
                    <a:pt x="203200" y="406400"/>
                  </a:lnTo>
                  <a:cubicBezTo>
                    <a:pt x="90976" y="406400"/>
                    <a:pt x="0" y="315424"/>
                    <a:pt x="0" y="203200"/>
                  </a:cubicBezTo>
                  <a:cubicBezTo>
                    <a:pt x="0" y="90976"/>
                    <a:pt x="90976" y="0"/>
                    <a:pt x="203200" y="0"/>
                  </a:cubicBezTo>
                  <a:close/>
                </a:path>
              </a:pathLst>
            </a:custGeom>
            <a:solidFill>
              <a:srgbClr val="FFFFFF"/>
            </a:solidFill>
          </p:spPr>
        </p:sp>
        <p:sp>
          <p:nvSpPr>
            <p:cNvPr name="TextBox 23" id="23"/>
            <p:cNvSpPr txBox="true"/>
            <p:nvPr/>
          </p:nvSpPr>
          <p:spPr>
            <a:xfrm>
              <a:off x="0" y="-28575"/>
              <a:ext cx="2410223" cy="434975"/>
            </a:xfrm>
            <a:prstGeom prst="rect">
              <a:avLst/>
            </a:prstGeom>
          </p:spPr>
          <p:txBody>
            <a:bodyPr anchor="ctr" rtlCol="false" tIns="50800" lIns="50800" bIns="50800" rIns="50800"/>
            <a:lstStyle/>
            <a:p>
              <a:pPr algn="ctr">
                <a:lnSpc>
                  <a:spcPts val="1384"/>
                </a:lnSpc>
              </a:pPr>
            </a:p>
          </p:txBody>
        </p:sp>
      </p:grpSp>
      <p:grpSp>
        <p:nvGrpSpPr>
          <p:cNvPr name="Group 24" id="24"/>
          <p:cNvGrpSpPr/>
          <p:nvPr/>
        </p:nvGrpSpPr>
        <p:grpSpPr>
          <a:xfrm rot="0">
            <a:off x="560568" y="4061055"/>
            <a:ext cx="3605740" cy="607982"/>
            <a:chOff x="0" y="0"/>
            <a:chExt cx="2410223" cy="406400"/>
          </a:xfrm>
        </p:grpSpPr>
        <p:sp>
          <p:nvSpPr>
            <p:cNvPr name="Freeform 25" id="25"/>
            <p:cNvSpPr/>
            <p:nvPr/>
          </p:nvSpPr>
          <p:spPr>
            <a:xfrm flipH="false" flipV="false" rot="0">
              <a:off x="0" y="0"/>
              <a:ext cx="2410223" cy="406400"/>
            </a:xfrm>
            <a:custGeom>
              <a:avLst/>
              <a:gdLst/>
              <a:ahLst/>
              <a:cxnLst/>
              <a:rect r="r" b="b" t="t" l="l"/>
              <a:pathLst>
                <a:path h="406400" w="2410223">
                  <a:moveTo>
                    <a:pt x="2207023" y="0"/>
                  </a:moveTo>
                  <a:cubicBezTo>
                    <a:pt x="2319247" y="0"/>
                    <a:pt x="2410223" y="90976"/>
                    <a:pt x="2410223" y="203200"/>
                  </a:cubicBezTo>
                  <a:cubicBezTo>
                    <a:pt x="2410223" y="315424"/>
                    <a:pt x="2319247" y="406400"/>
                    <a:pt x="2207023" y="406400"/>
                  </a:cubicBezTo>
                  <a:lnTo>
                    <a:pt x="203200" y="406400"/>
                  </a:lnTo>
                  <a:cubicBezTo>
                    <a:pt x="90976" y="406400"/>
                    <a:pt x="0" y="315424"/>
                    <a:pt x="0" y="203200"/>
                  </a:cubicBezTo>
                  <a:cubicBezTo>
                    <a:pt x="0" y="90976"/>
                    <a:pt x="90976" y="0"/>
                    <a:pt x="203200" y="0"/>
                  </a:cubicBezTo>
                  <a:close/>
                </a:path>
              </a:pathLst>
            </a:custGeom>
            <a:solidFill>
              <a:srgbClr val="FFFFFF"/>
            </a:solidFill>
          </p:spPr>
        </p:sp>
        <p:sp>
          <p:nvSpPr>
            <p:cNvPr name="TextBox 26" id="26"/>
            <p:cNvSpPr txBox="true"/>
            <p:nvPr/>
          </p:nvSpPr>
          <p:spPr>
            <a:xfrm>
              <a:off x="0" y="-28575"/>
              <a:ext cx="2410223" cy="434975"/>
            </a:xfrm>
            <a:prstGeom prst="rect">
              <a:avLst/>
            </a:prstGeom>
          </p:spPr>
          <p:txBody>
            <a:bodyPr anchor="ctr" rtlCol="false" tIns="50800" lIns="50800" bIns="50800" rIns="50800"/>
            <a:lstStyle/>
            <a:p>
              <a:pPr algn="ctr">
                <a:lnSpc>
                  <a:spcPts val="1384"/>
                </a:lnSpc>
              </a:pPr>
            </a:p>
          </p:txBody>
        </p:sp>
      </p:grpSp>
      <p:grpSp>
        <p:nvGrpSpPr>
          <p:cNvPr name="Group 27" id="27"/>
          <p:cNvGrpSpPr/>
          <p:nvPr/>
        </p:nvGrpSpPr>
        <p:grpSpPr>
          <a:xfrm rot="0">
            <a:off x="1941292" y="724709"/>
            <a:ext cx="3605740" cy="607982"/>
            <a:chOff x="0" y="0"/>
            <a:chExt cx="2410223" cy="406400"/>
          </a:xfrm>
        </p:grpSpPr>
        <p:sp>
          <p:nvSpPr>
            <p:cNvPr name="Freeform 28" id="28"/>
            <p:cNvSpPr/>
            <p:nvPr/>
          </p:nvSpPr>
          <p:spPr>
            <a:xfrm flipH="false" flipV="false" rot="0">
              <a:off x="0" y="0"/>
              <a:ext cx="2410223" cy="406400"/>
            </a:xfrm>
            <a:custGeom>
              <a:avLst/>
              <a:gdLst/>
              <a:ahLst/>
              <a:cxnLst/>
              <a:rect r="r" b="b" t="t" l="l"/>
              <a:pathLst>
                <a:path h="406400" w="2410223">
                  <a:moveTo>
                    <a:pt x="2207023" y="0"/>
                  </a:moveTo>
                  <a:cubicBezTo>
                    <a:pt x="2319247" y="0"/>
                    <a:pt x="2410223" y="90976"/>
                    <a:pt x="2410223" y="203200"/>
                  </a:cubicBezTo>
                  <a:cubicBezTo>
                    <a:pt x="2410223" y="315424"/>
                    <a:pt x="2319247" y="406400"/>
                    <a:pt x="2207023" y="406400"/>
                  </a:cubicBezTo>
                  <a:lnTo>
                    <a:pt x="203200" y="406400"/>
                  </a:lnTo>
                  <a:cubicBezTo>
                    <a:pt x="90976" y="406400"/>
                    <a:pt x="0" y="315424"/>
                    <a:pt x="0" y="203200"/>
                  </a:cubicBezTo>
                  <a:cubicBezTo>
                    <a:pt x="0" y="90976"/>
                    <a:pt x="90976" y="0"/>
                    <a:pt x="203200" y="0"/>
                  </a:cubicBezTo>
                  <a:close/>
                </a:path>
              </a:pathLst>
            </a:custGeom>
            <a:solidFill>
              <a:srgbClr val="FFFFFF"/>
            </a:solidFill>
          </p:spPr>
        </p:sp>
        <p:sp>
          <p:nvSpPr>
            <p:cNvPr name="TextBox 29" id="29"/>
            <p:cNvSpPr txBox="true"/>
            <p:nvPr/>
          </p:nvSpPr>
          <p:spPr>
            <a:xfrm>
              <a:off x="0" y="-28575"/>
              <a:ext cx="2410223" cy="434975"/>
            </a:xfrm>
            <a:prstGeom prst="rect">
              <a:avLst/>
            </a:prstGeom>
          </p:spPr>
          <p:txBody>
            <a:bodyPr anchor="ctr" rtlCol="false" tIns="50800" lIns="50800" bIns="50800" rIns="50800"/>
            <a:lstStyle/>
            <a:p>
              <a:pPr algn="ctr">
                <a:lnSpc>
                  <a:spcPts val="1384"/>
                </a:lnSpc>
              </a:pPr>
            </a:p>
          </p:txBody>
        </p:sp>
      </p:grpSp>
      <p:grpSp>
        <p:nvGrpSpPr>
          <p:cNvPr name="Group 30" id="30"/>
          <p:cNvGrpSpPr/>
          <p:nvPr/>
        </p:nvGrpSpPr>
        <p:grpSpPr>
          <a:xfrm rot="0">
            <a:off x="12643607" y="724709"/>
            <a:ext cx="3605740" cy="607982"/>
            <a:chOff x="0" y="0"/>
            <a:chExt cx="2410223" cy="406400"/>
          </a:xfrm>
        </p:grpSpPr>
        <p:sp>
          <p:nvSpPr>
            <p:cNvPr name="Freeform 31" id="31"/>
            <p:cNvSpPr/>
            <p:nvPr/>
          </p:nvSpPr>
          <p:spPr>
            <a:xfrm flipH="false" flipV="false" rot="0">
              <a:off x="0" y="0"/>
              <a:ext cx="2410223" cy="406400"/>
            </a:xfrm>
            <a:custGeom>
              <a:avLst/>
              <a:gdLst/>
              <a:ahLst/>
              <a:cxnLst/>
              <a:rect r="r" b="b" t="t" l="l"/>
              <a:pathLst>
                <a:path h="406400" w="2410223">
                  <a:moveTo>
                    <a:pt x="2207023" y="0"/>
                  </a:moveTo>
                  <a:cubicBezTo>
                    <a:pt x="2319247" y="0"/>
                    <a:pt x="2410223" y="90976"/>
                    <a:pt x="2410223" y="203200"/>
                  </a:cubicBezTo>
                  <a:cubicBezTo>
                    <a:pt x="2410223" y="315424"/>
                    <a:pt x="2319247" y="406400"/>
                    <a:pt x="2207023" y="406400"/>
                  </a:cubicBezTo>
                  <a:lnTo>
                    <a:pt x="203200" y="406400"/>
                  </a:lnTo>
                  <a:cubicBezTo>
                    <a:pt x="90976" y="406400"/>
                    <a:pt x="0" y="315424"/>
                    <a:pt x="0" y="203200"/>
                  </a:cubicBezTo>
                  <a:cubicBezTo>
                    <a:pt x="0" y="90976"/>
                    <a:pt x="90976" y="0"/>
                    <a:pt x="203200" y="0"/>
                  </a:cubicBezTo>
                  <a:close/>
                </a:path>
              </a:pathLst>
            </a:custGeom>
            <a:solidFill>
              <a:srgbClr val="FFFFFF"/>
            </a:solidFill>
          </p:spPr>
        </p:sp>
        <p:sp>
          <p:nvSpPr>
            <p:cNvPr name="TextBox 32" id="32"/>
            <p:cNvSpPr txBox="true"/>
            <p:nvPr/>
          </p:nvSpPr>
          <p:spPr>
            <a:xfrm>
              <a:off x="0" y="-28575"/>
              <a:ext cx="2410223" cy="434975"/>
            </a:xfrm>
            <a:prstGeom prst="rect">
              <a:avLst/>
            </a:prstGeom>
          </p:spPr>
          <p:txBody>
            <a:bodyPr anchor="ctr" rtlCol="false" tIns="50800" lIns="50800" bIns="50800" rIns="50800"/>
            <a:lstStyle/>
            <a:p>
              <a:pPr algn="ctr">
                <a:lnSpc>
                  <a:spcPts val="1384"/>
                </a:lnSpc>
              </a:pPr>
            </a:p>
          </p:txBody>
        </p:sp>
      </p:grpSp>
      <p:sp>
        <p:nvSpPr>
          <p:cNvPr name="Freeform 33" id="33"/>
          <p:cNvSpPr/>
          <p:nvPr/>
        </p:nvSpPr>
        <p:spPr>
          <a:xfrm flipH="false" flipV="false" rot="0">
            <a:off x="2933692" y="1794338"/>
            <a:ext cx="1620940" cy="1620940"/>
          </a:xfrm>
          <a:custGeom>
            <a:avLst/>
            <a:gdLst/>
            <a:ahLst/>
            <a:cxnLst/>
            <a:rect r="r" b="b" t="t" l="l"/>
            <a:pathLst>
              <a:path h="1620940" w="1620940">
                <a:moveTo>
                  <a:pt x="0" y="0"/>
                </a:moveTo>
                <a:lnTo>
                  <a:pt x="1620939" y="0"/>
                </a:lnTo>
                <a:lnTo>
                  <a:pt x="1620939" y="1620940"/>
                </a:lnTo>
                <a:lnTo>
                  <a:pt x="0" y="1620940"/>
                </a:lnTo>
                <a:lnTo>
                  <a:pt x="0" y="0"/>
                </a:lnTo>
                <a:close/>
              </a:path>
            </a:pathLst>
          </a:custGeom>
          <a:blipFill>
            <a:blip r:embed="rId3"/>
            <a:stretch>
              <a:fillRect l="0" t="0" r="0" b="0"/>
            </a:stretch>
          </a:blipFill>
        </p:spPr>
      </p:sp>
      <p:sp>
        <p:nvSpPr>
          <p:cNvPr name="Freeform 34" id="34"/>
          <p:cNvSpPr/>
          <p:nvPr/>
        </p:nvSpPr>
        <p:spPr>
          <a:xfrm flipH="false" flipV="false" rot="0">
            <a:off x="1527637" y="5040433"/>
            <a:ext cx="1760282" cy="1760282"/>
          </a:xfrm>
          <a:custGeom>
            <a:avLst/>
            <a:gdLst/>
            <a:ahLst/>
            <a:cxnLst/>
            <a:rect r="r" b="b" t="t" l="l"/>
            <a:pathLst>
              <a:path h="1760282" w="1760282">
                <a:moveTo>
                  <a:pt x="0" y="0"/>
                </a:moveTo>
                <a:lnTo>
                  <a:pt x="1760282" y="0"/>
                </a:lnTo>
                <a:lnTo>
                  <a:pt x="1760282" y="1760282"/>
                </a:lnTo>
                <a:lnTo>
                  <a:pt x="0" y="1760282"/>
                </a:lnTo>
                <a:lnTo>
                  <a:pt x="0" y="0"/>
                </a:lnTo>
                <a:close/>
              </a:path>
            </a:pathLst>
          </a:custGeom>
          <a:blipFill>
            <a:blip r:embed="rId4"/>
            <a:stretch>
              <a:fillRect l="0" t="0" r="0" b="0"/>
            </a:stretch>
          </a:blipFill>
        </p:spPr>
      </p:sp>
      <p:sp>
        <p:nvSpPr>
          <p:cNvPr name="Freeform 35" id="35"/>
          <p:cNvSpPr/>
          <p:nvPr/>
        </p:nvSpPr>
        <p:spPr>
          <a:xfrm flipH="false" flipV="false" rot="0">
            <a:off x="2703235" y="8012376"/>
            <a:ext cx="2081853" cy="2081853"/>
          </a:xfrm>
          <a:custGeom>
            <a:avLst/>
            <a:gdLst/>
            <a:ahLst/>
            <a:cxnLst/>
            <a:rect r="r" b="b" t="t" l="l"/>
            <a:pathLst>
              <a:path h="2081853" w="2081853">
                <a:moveTo>
                  <a:pt x="0" y="0"/>
                </a:moveTo>
                <a:lnTo>
                  <a:pt x="2081853" y="0"/>
                </a:lnTo>
                <a:lnTo>
                  <a:pt x="2081853" y="2081853"/>
                </a:lnTo>
                <a:lnTo>
                  <a:pt x="0" y="2081853"/>
                </a:lnTo>
                <a:lnTo>
                  <a:pt x="0" y="0"/>
                </a:lnTo>
                <a:close/>
              </a:path>
            </a:pathLst>
          </a:custGeom>
          <a:blipFill>
            <a:blip r:embed="rId5"/>
            <a:stretch>
              <a:fillRect l="0" t="0" r="0" b="0"/>
            </a:stretch>
          </a:blipFill>
        </p:spPr>
      </p:sp>
      <p:sp>
        <p:nvSpPr>
          <p:cNvPr name="Freeform 36" id="36"/>
          <p:cNvSpPr/>
          <p:nvPr/>
        </p:nvSpPr>
        <p:spPr>
          <a:xfrm flipH="false" flipV="false" rot="0">
            <a:off x="13185589" y="1803261"/>
            <a:ext cx="2637246" cy="1612017"/>
          </a:xfrm>
          <a:custGeom>
            <a:avLst/>
            <a:gdLst/>
            <a:ahLst/>
            <a:cxnLst/>
            <a:rect r="r" b="b" t="t" l="l"/>
            <a:pathLst>
              <a:path h="1612017" w="2637246">
                <a:moveTo>
                  <a:pt x="0" y="0"/>
                </a:moveTo>
                <a:lnTo>
                  <a:pt x="2637246" y="0"/>
                </a:lnTo>
                <a:lnTo>
                  <a:pt x="2637246" y="1612017"/>
                </a:lnTo>
                <a:lnTo>
                  <a:pt x="0" y="1612017"/>
                </a:lnTo>
                <a:lnTo>
                  <a:pt x="0" y="0"/>
                </a:lnTo>
                <a:close/>
              </a:path>
            </a:pathLst>
          </a:custGeom>
          <a:blipFill>
            <a:blip r:embed="rId6"/>
            <a:stretch>
              <a:fillRect l="0" t="0" r="0" b="0"/>
            </a:stretch>
          </a:blipFill>
        </p:spPr>
      </p:sp>
      <p:sp>
        <p:nvSpPr>
          <p:cNvPr name="Freeform 37" id="37"/>
          <p:cNvSpPr/>
          <p:nvPr/>
        </p:nvSpPr>
        <p:spPr>
          <a:xfrm flipH="false" flipV="false" rot="0">
            <a:off x="13609788" y="8340070"/>
            <a:ext cx="1788848" cy="1788848"/>
          </a:xfrm>
          <a:custGeom>
            <a:avLst/>
            <a:gdLst/>
            <a:ahLst/>
            <a:cxnLst/>
            <a:rect r="r" b="b" t="t" l="l"/>
            <a:pathLst>
              <a:path h="1788848" w="1788848">
                <a:moveTo>
                  <a:pt x="0" y="0"/>
                </a:moveTo>
                <a:lnTo>
                  <a:pt x="1788848" y="0"/>
                </a:lnTo>
                <a:lnTo>
                  <a:pt x="1788848" y="1788848"/>
                </a:lnTo>
                <a:lnTo>
                  <a:pt x="0" y="1788848"/>
                </a:lnTo>
                <a:lnTo>
                  <a:pt x="0" y="0"/>
                </a:lnTo>
                <a:close/>
              </a:path>
            </a:pathLst>
          </a:custGeom>
          <a:blipFill>
            <a:blip r:embed="rId7"/>
            <a:stretch>
              <a:fillRect l="0" t="0" r="0" b="0"/>
            </a:stretch>
          </a:blipFill>
        </p:spPr>
      </p:sp>
      <p:sp>
        <p:nvSpPr>
          <p:cNvPr name="TextBox 38" id="38"/>
          <p:cNvSpPr txBox="true"/>
          <p:nvPr/>
        </p:nvSpPr>
        <p:spPr>
          <a:xfrm rot="0">
            <a:off x="5405169" y="4051362"/>
            <a:ext cx="7496155" cy="3015377"/>
          </a:xfrm>
          <a:prstGeom prst="rect">
            <a:avLst/>
          </a:prstGeom>
        </p:spPr>
        <p:txBody>
          <a:bodyPr anchor="t" rtlCol="false" tIns="0" lIns="0" bIns="0" rIns="0">
            <a:spAutoFit/>
          </a:bodyPr>
          <a:lstStyle/>
          <a:p>
            <a:pPr algn="ctr">
              <a:lnSpc>
                <a:spcPts val="7963"/>
              </a:lnSpc>
            </a:pPr>
            <a:r>
              <a:rPr lang="en-US" b="true" sz="6421" spc="122">
                <a:solidFill>
                  <a:srgbClr val="FFFFFF"/>
                </a:solidFill>
                <a:latin typeface="Muli Heavy"/>
                <a:ea typeface="Muli Heavy"/>
                <a:cs typeface="Muli Heavy"/>
                <a:sym typeface="Muli Heavy"/>
              </a:rPr>
              <a:t>TECNOLOGÍAS UTILIZADAS</a:t>
            </a:r>
          </a:p>
          <a:p>
            <a:pPr algn="ctr" marL="0" indent="0" lvl="0">
              <a:lnSpc>
                <a:spcPts val="7963"/>
              </a:lnSpc>
              <a:spcBef>
                <a:spcPct val="0"/>
              </a:spcBef>
            </a:pPr>
          </a:p>
        </p:txBody>
      </p:sp>
      <p:sp>
        <p:nvSpPr>
          <p:cNvPr name="TextBox 39" id="39"/>
          <p:cNvSpPr txBox="true"/>
          <p:nvPr/>
        </p:nvSpPr>
        <p:spPr>
          <a:xfrm rot="0">
            <a:off x="2153381" y="7339279"/>
            <a:ext cx="3251788" cy="389412"/>
          </a:xfrm>
          <a:prstGeom prst="rect">
            <a:avLst/>
          </a:prstGeom>
        </p:spPr>
        <p:txBody>
          <a:bodyPr anchor="t" rtlCol="false" tIns="0" lIns="0" bIns="0" rIns="0">
            <a:spAutoFit/>
          </a:bodyPr>
          <a:lstStyle/>
          <a:p>
            <a:pPr algn="ctr" marL="0" indent="0" lvl="0">
              <a:lnSpc>
                <a:spcPts val="3211"/>
              </a:lnSpc>
              <a:spcBef>
                <a:spcPct val="0"/>
              </a:spcBef>
            </a:pPr>
            <a:r>
              <a:rPr lang="en-US" b="true" sz="2293">
                <a:solidFill>
                  <a:srgbClr val="000A1F"/>
                </a:solidFill>
                <a:latin typeface="Muli Ultra-Bold"/>
                <a:ea typeface="Muli Ultra-Bold"/>
                <a:cs typeface="Muli Ultra-Bold"/>
                <a:sym typeface="Muli Ultra-Bold"/>
              </a:rPr>
              <a:t>Control de Versiones</a:t>
            </a:r>
          </a:p>
        </p:txBody>
      </p:sp>
      <p:sp>
        <p:nvSpPr>
          <p:cNvPr name="TextBox 40" id="40"/>
          <p:cNvSpPr txBox="true"/>
          <p:nvPr/>
        </p:nvSpPr>
        <p:spPr>
          <a:xfrm rot="0">
            <a:off x="12855695" y="7339279"/>
            <a:ext cx="3251788" cy="389412"/>
          </a:xfrm>
          <a:prstGeom prst="rect">
            <a:avLst/>
          </a:prstGeom>
        </p:spPr>
        <p:txBody>
          <a:bodyPr anchor="t" rtlCol="false" tIns="0" lIns="0" bIns="0" rIns="0">
            <a:spAutoFit/>
          </a:bodyPr>
          <a:lstStyle/>
          <a:p>
            <a:pPr algn="ctr" marL="0" indent="0" lvl="0">
              <a:lnSpc>
                <a:spcPts val="3211"/>
              </a:lnSpc>
              <a:spcBef>
                <a:spcPct val="0"/>
              </a:spcBef>
            </a:pPr>
            <a:r>
              <a:rPr lang="en-US" b="true" sz="2293">
                <a:solidFill>
                  <a:srgbClr val="000A1F"/>
                </a:solidFill>
                <a:latin typeface="Muli Ultra-Bold"/>
                <a:ea typeface="Muli Ultra-Bold"/>
                <a:cs typeface="Muli Ultra-Bold"/>
                <a:sym typeface="Muli Ultra-Bold"/>
              </a:rPr>
              <a:t>Despliegue</a:t>
            </a:r>
          </a:p>
        </p:txBody>
      </p:sp>
      <p:sp>
        <p:nvSpPr>
          <p:cNvPr name="TextBox 41" id="41"/>
          <p:cNvSpPr txBox="true"/>
          <p:nvPr/>
        </p:nvSpPr>
        <p:spPr>
          <a:xfrm rot="0">
            <a:off x="2363438" y="1325691"/>
            <a:ext cx="2742993" cy="851570"/>
          </a:xfrm>
          <a:prstGeom prst="rect">
            <a:avLst/>
          </a:prstGeom>
        </p:spPr>
        <p:txBody>
          <a:bodyPr anchor="t" rtlCol="false" tIns="0" lIns="0" bIns="0" rIns="0">
            <a:spAutoFit/>
          </a:bodyPr>
          <a:lstStyle/>
          <a:p>
            <a:pPr algn="ctr" marL="0" indent="0" lvl="0">
              <a:lnSpc>
                <a:spcPts val="3478"/>
              </a:lnSpc>
              <a:spcBef>
                <a:spcPct val="0"/>
              </a:spcBef>
            </a:pPr>
            <a:r>
              <a:rPr lang="en-US" b="true" sz="2174">
                <a:solidFill>
                  <a:srgbClr val="FFFFFF"/>
                </a:solidFill>
                <a:latin typeface="TT Interphases Bold"/>
                <a:ea typeface="TT Interphases Bold"/>
                <a:cs typeface="TT Interphases Bold"/>
                <a:sym typeface="TT Interphases Bold"/>
              </a:rPr>
              <a:t>N</a:t>
            </a:r>
            <a:r>
              <a:rPr lang="en-US" b="true" sz="2174" strike="noStrike" u="none">
                <a:solidFill>
                  <a:srgbClr val="FFFFFF"/>
                </a:solidFill>
                <a:latin typeface="TT Interphases Bold"/>
                <a:ea typeface="TT Interphases Bold"/>
                <a:cs typeface="TT Interphases Bold"/>
                <a:sym typeface="TT Interphases Bold"/>
              </a:rPr>
              <a:t>ext.js 14, React</a:t>
            </a:r>
          </a:p>
          <a:p>
            <a:pPr algn="ctr" marL="0" indent="0" lvl="0">
              <a:lnSpc>
                <a:spcPts val="3478"/>
              </a:lnSpc>
              <a:spcBef>
                <a:spcPct val="0"/>
              </a:spcBef>
            </a:pPr>
          </a:p>
        </p:txBody>
      </p:sp>
      <p:sp>
        <p:nvSpPr>
          <p:cNvPr name="TextBox 42" id="42"/>
          <p:cNvSpPr txBox="true"/>
          <p:nvPr/>
        </p:nvSpPr>
        <p:spPr>
          <a:xfrm rot="0">
            <a:off x="772657" y="4138816"/>
            <a:ext cx="3251788" cy="389412"/>
          </a:xfrm>
          <a:prstGeom prst="rect">
            <a:avLst/>
          </a:prstGeom>
        </p:spPr>
        <p:txBody>
          <a:bodyPr anchor="t" rtlCol="false" tIns="0" lIns="0" bIns="0" rIns="0">
            <a:spAutoFit/>
          </a:bodyPr>
          <a:lstStyle/>
          <a:p>
            <a:pPr algn="ctr" marL="0" indent="0" lvl="0">
              <a:lnSpc>
                <a:spcPts val="3211"/>
              </a:lnSpc>
              <a:spcBef>
                <a:spcPct val="0"/>
              </a:spcBef>
            </a:pPr>
            <a:r>
              <a:rPr lang="en-US" b="true" sz="2293">
                <a:solidFill>
                  <a:srgbClr val="000A1F"/>
                </a:solidFill>
                <a:latin typeface="Muli Ultra-Bold"/>
                <a:ea typeface="Muli Ultra-Bold"/>
                <a:cs typeface="Muli Ultra-Bold"/>
                <a:sym typeface="Muli Ultra-Bold"/>
              </a:rPr>
              <a:t>Data base</a:t>
            </a:r>
          </a:p>
        </p:txBody>
      </p:sp>
      <p:sp>
        <p:nvSpPr>
          <p:cNvPr name="TextBox 43" id="43"/>
          <p:cNvSpPr txBox="true"/>
          <p:nvPr/>
        </p:nvSpPr>
        <p:spPr>
          <a:xfrm rot="0">
            <a:off x="2153381" y="802470"/>
            <a:ext cx="3251788" cy="389412"/>
          </a:xfrm>
          <a:prstGeom prst="rect">
            <a:avLst/>
          </a:prstGeom>
        </p:spPr>
        <p:txBody>
          <a:bodyPr anchor="t" rtlCol="false" tIns="0" lIns="0" bIns="0" rIns="0">
            <a:spAutoFit/>
          </a:bodyPr>
          <a:lstStyle/>
          <a:p>
            <a:pPr algn="ctr" marL="0" indent="0" lvl="0">
              <a:lnSpc>
                <a:spcPts val="3211"/>
              </a:lnSpc>
              <a:spcBef>
                <a:spcPct val="0"/>
              </a:spcBef>
            </a:pPr>
            <a:r>
              <a:rPr lang="en-US" b="true" sz="2293">
                <a:solidFill>
                  <a:srgbClr val="000A1F"/>
                </a:solidFill>
                <a:latin typeface="Muli Ultra-Bold"/>
                <a:ea typeface="Muli Ultra-Bold"/>
                <a:cs typeface="Muli Ultra-Bold"/>
                <a:sym typeface="Muli Ultra-Bold"/>
              </a:rPr>
              <a:t>FrontEnd</a:t>
            </a:r>
          </a:p>
        </p:txBody>
      </p:sp>
      <p:sp>
        <p:nvSpPr>
          <p:cNvPr name="TextBox 44" id="44"/>
          <p:cNvSpPr txBox="true"/>
          <p:nvPr/>
        </p:nvSpPr>
        <p:spPr>
          <a:xfrm rot="0">
            <a:off x="12855695" y="802470"/>
            <a:ext cx="3251788" cy="389412"/>
          </a:xfrm>
          <a:prstGeom prst="rect">
            <a:avLst/>
          </a:prstGeom>
        </p:spPr>
        <p:txBody>
          <a:bodyPr anchor="t" rtlCol="false" tIns="0" lIns="0" bIns="0" rIns="0">
            <a:spAutoFit/>
          </a:bodyPr>
          <a:lstStyle/>
          <a:p>
            <a:pPr algn="ctr" marL="0" indent="0" lvl="0">
              <a:lnSpc>
                <a:spcPts val="3211"/>
              </a:lnSpc>
              <a:spcBef>
                <a:spcPct val="0"/>
              </a:spcBef>
            </a:pPr>
            <a:r>
              <a:rPr lang="en-US" b="true" sz="2293">
                <a:solidFill>
                  <a:srgbClr val="000A1F"/>
                </a:solidFill>
                <a:latin typeface="Muli Ultra-Bold"/>
                <a:ea typeface="Muli Ultra-Bold"/>
                <a:cs typeface="Muli Ultra-Bold"/>
                <a:sym typeface="Muli Ultra-Bold"/>
              </a:rPr>
              <a:t>Estilos</a:t>
            </a:r>
          </a:p>
        </p:txBody>
      </p:sp>
      <p:sp>
        <p:nvSpPr>
          <p:cNvPr name="TextBox 45" id="45"/>
          <p:cNvSpPr txBox="true"/>
          <p:nvPr/>
        </p:nvSpPr>
        <p:spPr>
          <a:xfrm rot="0">
            <a:off x="1036281" y="4583312"/>
            <a:ext cx="2742993" cy="413420"/>
          </a:xfrm>
          <a:prstGeom prst="rect">
            <a:avLst/>
          </a:prstGeom>
        </p:spPr>
        <p:txBody>
          <a:bodyPr anchor="t" rtlCol="false" tIns="0" lIns="0" bIns="0" rIns="0">
            <a:spAutoFit/>
          </a:bodyPr>
          <a:lstStyle/>
          <a:p>
            <a:pPr algn="ctr" marL="0" indent="0" lvl="0">
              <a:lnSpc>
                <a:spcPts val="3478"/>
              </a:lnSpc>
              <a:spcBef>
                <a:spcPct val="0"/>
              </a:spcBef>
            </a:pPr>
            <a:r>
              <a:rPr lang="en-US" b="true" sz="2174">
                <a:solidFill>
                  <a:srgbClr val="FFFFFF"/>
                </a:solidFill>
                <a:latin typeface="TT Interphases Bold"/>
                <a:ea typeface="TT Interphases Bold"/>
                <a:cs typeface="TT Interphases Bold"/>
                <a:sym typeface="TT Interphases Bold"/>
              </a:rPr>
              <a:t>Firestore</a:t>
            </a:r>
          </a:p>
        </p:txBody>
      </p:sp>
      <p:sp>
        <p:nvSpPr>
          <p:cNvPr name="TextBox 46" id="46"/>
          <p:cNvSpPr txBox="true"/>
          <p:nvPr/>
        </p:nvSpPr>
        <p:spPr>
          <a:xfrm rot="0">
            <a:off x="2363438" y="7754420"/>
            <a:ext cx="2742993" cy="413420"/>
          </a:xfrm>
          <a:prstGeom prst="rect">
            <a:avLst/>
          </a:prstGeom>
        </p:spPr>
        <p:txBody>
          <a:bodyPr anchor="t" rtlCol="false" tIns="0" lIns="0" bIns="0" rIns="0">
            <a:spAutoFit/>
          </a:bodyPr>
          <a:lstStyle/>
          <a:p>
            <a:pPr algn="ctr" marL="0" indent="0" lvl="0">
              <a:lnSpc>
                <a:spcPts val="3478"/>
              </a:lnSpc>
              <a:spcBef>
                <a:spcPct val="0"/>
              </a:spcBef>
            </a:pPr>
            <a:r>
              <a:rPr lang="en-US" b="true" sz="2174">
                <a:solidFill>
                  <a:srgbClr val="FFFFFF"/>
                </a:solidFill>
                <a:latin typeface="TT Interphases Bold"/>
                <a:ea typeface="TT Interphases Bold"/>
                <a:cs typeface="TT Interphases Bold"/>
                <a:sym typeface="TT Interphases Bold"/>
              </a:rPr>
              <a:t>Github</a:t>
            </a:r>
          </a:p>
        </p:txBody>
      </p:sp>
      <p:sp>
        <p:nvSpPr>
          <p:cNvPr name="TextBox 47" id="47"/>
          <p:cNvSpPr txBox="true"/>
          <p:nvPr/>
        </p:nvSpPr>
        <p:spPr>
          <a:xfrm rot="0">
            <a:off x="13074980" y="1246966"/>
            <a:ext cx="2742993" cy="413420"/>
          </a:xfrm>
          <a:prstGeom prst="rect">
            <a:avLst/>
          </a:prstGeom>
        </p:spPr>
        <p:txBody>
          <a:bodyPr anchor="t" rtlCol="false" tIns="0" lIns="0" bIns="0" rIns="0">
            <a:spAutoFit/>
          </a:bodyPr>
          <a:lstStyle/>
          <a:p>
            <a:pPr algn="ctr" marL="0" indent="0" lvl="0">
              <a:lnSpc>
                <a:spcPts val="3478"/>
              </a:lnSpc>
              <a:spcBef>
                <a:spcPct val="0"/>
              </a:spcBef>
            </a:pPr>
            <a:r>
              <a:rPr lang="en-US" b="true" sz="2174">
                <a:solidFill>
                  <a:srgbClr val="FFFFFF"/>
                </a:solidFill>
                <a:latin typeface="TT Interphases Bold"/>
                <a:ea typeface="TT Interphases Bold"/>
                <a:cs typeface="TT Interphases Bold"/>
                <a:sym typeface="TT Interphases Bold"/>
              </a:rPr>
              <a:t>Tailw</a:t>
            </a:r>
            <a:r>
              <a:rPr lang="en-US" b="true" sz="2174">
                <a:solidFill>
                  <a:srgbClr val="FFFFFF"/>
                </a:solidFill>
                <a:latin typeface="TT Interphases Bold"/>
                <a:ea typeface="TT Interphases Bold"/>
                <a:cs typeface="TT Interphases Bold"/>
                <a:sym typeface="TT Interphases Bold"/>
              </a:rPr>
              <a:t>indCSS</a:t>
            </a:r>
          </a:p>
        </p:txBody>
      </p:sp>
      <p:sp>
        <p:nvSpPr>
          <p:cNvPr name="TextBox 48" id="48"/>
          <p:cNvSpPr txBox="true"/>
          <p:nvPr/>
        </p:nvSpPr>
        <p:spPr>
          <a:xfrm rot="0">
            <a:off x="13110093" y="7783776"/>
            <a:ext cx="2742993" cy="413420"/>
          </a:xfrm>
          <a:prstGeom prst="rect">
            <a:avLst/>
          </a:prstGeom>
        </p:spPr>
        <p:txBody>
          <a:bodyPr anchor="t" rtlCol="false" tIns="0" lIns="0" bIns="0" rIns="0">
            <a:spAutoFit/>
          </a:bodyPr>
          <a:lstStyle/>
          <a:p>
            <a:pPr algn="ctr" marL="0" indent="0" lvl="0">
              <a:lnSpc>
                <a:spcPts val="3478"/>
              </a:lnSpc>
              <a:spcBef>
                <a:spcPct val="0"/>
              </a:spcBef>
            </a:pPr>
            <a:r>
              <a:rPr lang="en-US" b="true" sz="2174">
                <a:solidFill>
                  <a:srgbClr val="FFFFFF"/>
                </a:solidFill>
                <a:latin typeface="TT Interphases Bold"/>
                <a:ea typeface="TT Interphases Bold"/>
                <a:cs typeface="TT Interphases Bold"/>
                <a:sym typeface="TT Interphases Bold"/>
              </a:rPr>
              <a:t>Vercel</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5400000">
            <a:off x="6215584" y="-1871099"/>
            <a:ext cx="6711098" cy="20298041"/>
            <a:chOff x="0" y="0"/>
            <a:chExt cx="1767532" cy="5345986"/>
          </a:xfrm>
        </p:grpSpPr>
        <p:sp>
          <p:nvSpPr>
            <p:cNvPr name="Freeform 4" id="4"/>
            <p:cNvSpPr/>
            <p:nvPr/>
          </p:nvSpPr>
          <p:spPr>
            <a:xfrm flipH="false" flipV="false" rot="0">
              <a:off x="0" y="0"/>
              <a:ext cx="1767532" cy="5345986"/>
            </a:xfrm>
            <a:custGeom>
              <a:avLst/>
              <a:gdLst/>
              <a:ahLst/>
              <a:cxnLst/>
              <a:rect r="r" b="b" t="t" l="l"/>
              <a:pathLst>
                <a:path h="5345986" w="1767532">
                  <a:moveTo>
                    <a:pt x="32301" y="0"/>
                  </a:moveTo>
                  <a:lnTo>
                    <a:pt x="1735231" y="0"/>
                  </a:lnTo>
                  <a:cubicBezTo>
                    <a:pt x="1743798" y="0"/>
                    <a:pt x="1752014" y="3403"/>
                    <a:pt x="1758071" y="9461"/>
                  </a:cubicBezTo>
                  <a:cubicBezTo>
                    <a:pt x="1764129" y="15518"/>
                    <a:pt x="1767532" y="23734"/>
                    <a:pt x="1767532" y="32301"/>
                  </a:cubicBezTo>
                  <a:lnTo>
                    <a:pt x="1767532" y="5313685"/>
                  </a:lnTo>
                  <a:cubicBezTo>
                    <a:pt x="1767532" y="5322252"/>
                    <a:pt x="1764129" y="5330468"/>
                    <a:pt x="1758071" y="5336525"/>
                  </a:cubicBezTo>
                  <a:cubicBezTo>
                    <a:pt x="1752014" y="5342583"/>
                    <a:pt x="1743798" y="5345986"/>
                    <a:pt x="1735231" y="5345986"/>
                  </a:cubicBezTo>
                  <a:lnTo>
                    <a:pt x="32301" y="5345986"/>
                  </a:lnTo>
                  <a:cubicBezTo>
                    <a:pt x="23734" y="5345986"/>
                    <a:pt x="15518" y="5342583"/>
                    <a:pt x="9461" y="5336525"/>
                  </a:cubicBezTo>
                  <a:cubicBezTo>
                    <a:pt x="3403" y="5330468"/>
                    <a:pt x="0" y="5322252"/>
                    <a:pt x="0" y="5313685"/>
                  </a:cubicBezTo>
                  <a:lnTo>
                    <a:pt x="0" y="32301"/>
                  </a:lnTo>
                  <a:cubicBezTo>
                    <a:pt x="0" y="23734"/>
                    <a:pt x="3403" y="15518"/>
                    <a:pt x="9461" y="9461"/>
                  </a:cubicBezTo>
                  <a:cubicBezTo>
                    <a:pt x="15518" y="3403"/>
                    <a:pt x="23734" y="0"/>
                    <a:pt x="32301" y="0"/>
                  </a:cubicBezTo>
                  <a:close/>
                </a:path>
              </a:pathLst>
            </a:custGeom>
            <a:solidFill>
              <a:srgbClr val="000A1F">
                <a:alpha val="60000"/>
              </a:srgbClr>
            </a:solidFill>
          </p:spPr>
        </p:sp>
        <p:sp>
          <p:nvSpPr>
            <p:cNvPr name="TextBox 5" id="5"/>
            <p:cNvSpPr txBox="true"/>
            <p:nvPr/>
          </p:nvSpPr>
          <p:spPr>
            <a:xfrm>
              <a:off x="0" y="-38100"/>
              <a:ext cx="1767532" cy="5384086"/>
            </a:xfrm>
            <a:prstGeom prst="rect">
              <a:avLst/>
            </a:prstGeom>
          </p:spPr>
          <p:txBody>
            <a:bodyPr anchor="ctr" rtlCol="false" tIns="50800" lIns="50800" bIns="50800" rIns="50800"/>
            <a:lstStyle/>
            <a:p>
              <a:pPr algn="ctr">
                <a:lnSpc>
                  <a:spcPts val="1774"/>
                </a:lnSpc>
              </a:pPr>
            </a:p>
          </p:txBody>
        </p:sp>
      </p:grpSp>
      <p:sp>
        <p:nvSpPr>
          <p:cNvPr name="TextBox 6" id="6"/>
          <p:cNvSpPr txBox="true"/>
          <p:nvPr/>
        </p:nvSpPr>
        <p:spPr>
          <a:xfrm rot="0">
            <a:off x="1028700" y="3713007"/>
            <a:ext cx="16230600" cy="2446290"/>
          </a:xfrm>
          <a:prstGeom prst="rect">
            <a:avLst/>
          </a:prstGeom>
        </p:spPr>
        <p:txBody>
          <a:bodyPr anchor="t" rtlCol="false" tIns="0" lIns="0" bIns="0" rIns="0">
            <a:spAutoFit/>
          </a:bodyPr>
          <a:lstStyle/>
          <a:p>
            <a:pPr algn="ctr" marL="0" indent="0" lvl="0">
              <a:lnSpc>
                <a:spcPts val="9699"/>
              </a:lnSpc>
              <a:spcBef>
                <a:spcPct val="0"/>
              </a:spcBef>
            </a:pPr>
            <a:r>
              <a:rPr lang="en-US" b="true" sz="7821" spc="148">
                <a:solidFill>
                  <a:srgbClr val="FFFFFF"/>
                </a:solidFill>
                <a:latin typeface="Muli Heavy"/>
                <a:ea typeface="Muli Heavy"/>
                <a:cs typeface="Muli Heavy"/>
                <a:sym typeface="Muli Heavy"/>
              </a:rPr>
              <a:t>DEMOSTRACIÓN DEL RESULTADO DEL PROYECTO</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5400000">
            <a:off x="5315925" y="-5226033"/>
            <a:ext cx="7656149" cy="20739065"/>
            <a:chOff x="0" y="0"/>
            <a:chExt cx="2016434" cy="5462141"/>
          </a:xfrm>
        </p:grpSpPr>
        <p:sp>
          <p:nvSpPr>
            <p:cNvPr name="Freeform 4" id="4"/>
            <p:cNvSpPr/>
            <p:nvPr/>
          </p:nvSpPr>
          <p:spPr>
            <a:xfrm flipH="false" flipV="false" rot="0">
              <a:off x="0" y="0"/>
              <a:ext cx="2016434" cy="5462141"/>
            </a:xfrm>
            <a:custGeom>
              <a:avLst/>
              <a:gdLst/>
              <a:ahLst/>
              <a:cxnLst/>
              <a:rect r="r" b="b" t="t" l="l"/>
              <a:pathLst>
                <a:path h="5462141" w="2016434">
                  <a:moveTo>
                    <a:pt x="28314" y="0"/>
                  </a:moveTo>
                  <a:lnTo>
                    <a:pt x="1988121" y="0"/>
                  </a:lnTo>
                  <a:cubicBezTo>
                    <a:pt x="1995630" y="0"/>
                    <a:pt x="2002832" y="2983"/>
                    <a:pt x="2008142" y="8293"/>
                  </a:cubicBezTo>
                  <a:cubicBezTo>
                    <a:pt x="2013452" y="13603"/>
                    <a:pt x="2016434" y="20804"/>
                    <a:pt x="2016434" y="28314"/>
                  </a:cubicBezTo>
                  <a:lnTo>
                    <a:pt x="2016434" y="5433827"/>
                  </a:lnTo>
                  <a:cubicBezTo>
                    <a:pt x="2016434" y="5441336"/>
                    <a:pt x="2013452" y="5448538"/>
                    <a:pt x="2008142" y="5453848"/>
                  </a:cubicBezTo>
                  <a:cubicBezTo>
                    <a:pt x="2002832" y="5459157"/>
                    <a:pt x="1995630" y="5462141"/>
                    <a:pt x="1988121" y="5462141"/>
                  </a:cubicBezTo>
                  <a:lnTo>
                    <a:pt x="28314" y="5462141"/>
                  </a:lnTo>
                  <a:cubicBezTo>
                    <a:pt x="20804" y="5462141"/>
                    <a:pt x="13603" y="5459157"/>
                    <a:pt x="8293" y="5453848"/>
                  </a:cubicBezTo>
                  <a:cubicBezTo>
                    <a:pt x="2983" y="5448538"/>
                    <a:pt x="0" y="5441336"/>
                    <a:pt x="0" y="5433827"/>
                  </a:cubicBezTo>
                  <a:lnTo>
                    <a:pt x="0" y="28314"/>
                  </a:lnTo>
                  <a:cubicBezTo>
                    <a:pt x="0" y="20804"/>
                    <a:pt x="2983" y="13603"/>
                    <a:pt x="8293" y="8293"/>
                  </a:cubicBezTo>
                  <a:cubicBezTo>
                    <a:pt x="13603" y="2983"/>
                    <a:pt x="20804" y="0"/>
                    <a:pt x="28314" y="0"/>
                  </a:cubicBezTo>
                  <a:close/>
                </a:path>
              </a:pathLst>
            </a:custGeom>
            <a:solidFill>
              <a:srgbClr val="000A1F">
                <a:alpha val="60000"/>
              </a:srgbClr>
            </a:solidFill>
          </p:spPr>
        </p:sp>
        <p:sp>
          <p:nvSpPr>
            <p:cNvPr name="TextBox 5" id="5"/>
            <p:cNvSpPr txBox="true"/>
            <p:nvPr/>
          </p:nvSpPr>
          <p:spPr>
            <a:xfrm>
              <a:off x="0" y="-38100"/>
              <a:ext cx="2016434" cy="5500241"/>
            </a:xfrm>
            <a:prstGeom prst="rect">
              <a:avLst/>
            </a:prstGeom>
          </p:spPr>
          <p:txBody>
            <a:bodyPr anchor="ctr" rtlCol="false" tIns="50800" lIns="50800" bIns="50800" rIns="50800"/>
            <a:lstStyle/>
            <a:p>
              <a:pPr algn="ctr">
                <a:lnSpc>
                  <a:spcPts val="1774"/>
                </a:lnSpc>
              </a:pPr>
            </a:p>
          </p:txBody>
        </p:sp>
      </p:grpSp>
      <p:sp>
        <p:nvSpPr>
          <p:cNvPr name="TextBox 6" id="6"/>
          <p:cNvSpPr txBox="true"/>
          <p:nvPr/>
        </p:nvSpPr>
        <p:spPr>
          <a:xfrm rot="0">
            <a:off x="3404986" y="3876140"/>
            <a:ext cx="11478028" cy="4894644"/>
          </a:xfrm>
          <a:prstGeom prst="rect">
            <a:avLst/>
          </a:prstGeom>
        </p:spPr>
        <p:txBody>
          <a:bodyPr anchor="t" rtlCol="false" tIns="0" lIns="0" bIns="0" rIns="0">
            <a:spAutoFit/>
          </a:bodyPr>
          <a:lstStyle/>
          <a:p>
            <a:pPr algn="just">
              <a:lnSpc>
                <a:spcPts val="4615"/>
              </a:lnSpc>
            </a:pPr>
            <a:r>
              <a:rPr lang="en-US" sz="2867" b="true">
                <a:solidFill>
                  <a:srgbClr val="FFFFFF"/>
                </a:solidFill>
                <a:latin typeface="TT Interphases Bold"/>
                <a:ea typeface="TT Interphases Bold"/>
                <a:cs typeface="TT Interphases Bold"/>
                <a:sym typeface="TT Interphases Bold"/>
              </a:rPr>
              <a:t>Obstáculos principales</a:t>
            </a:r>
          </a:p>
          <a:p>
            <a:pPr algn="just" marL="575821" indent="-287911" lvl="1">
              <a:lnSpc>
                <a:spcPts val="4293"/>
              </a:lnSpc>
              <a:buFont typeface="Arial"/>
              <a:buChar char="•"/>
            </a:pPr>
            <a:r>
              <a:rPr lang="en-US" sz="2667">
                <a:solidFill>
                  <a:srgbClr val="FFFFFF"/>
                </a:solidFill>
                <a:latin typeface="TT Interphases"/>
                <a:ea typeface="TT Interphases"/>
                <a:cs typeface="TT Interphases"/>
                <a:sym typeface="TT Interphases"/>
              </a:rPr>
              <a:t>Primera vez trabajando con N</a:t>
            </a:r>
            <a:r>
              <a:rPr lang="en-US" sz="2667">
                <a:solidFill>
                  <a:srgbClr val="FFFFFF"/>
                </a:solidFill>
                <a:latin typeface="TT Interphases"/>
                <a:ea typeface="TT Interphases"/>
                <a:cs typeface="TT Interphases"/>
                <a:sym typeface="TT Interphases"/>
              </a:rPr>
              <a:t>ext.js y Firebase, lo que generó una fuerte curva de aprendizaje.</a:t>
            </a:r>
          </a:p>
          <a:p>
            <a:pPr algn="just" marL="575821" indent="-287911" lvl="1">
              <a:lnSpc>
                <a:spcPts val="4293"/>
              </a:lnSpc>
              <a:buFont typeface="Arial"/>
              <a:buChar char="•"/>
            </a:pPr>
            <a:r>
              <a:rPr lang="en-US" sz="2667">
                <a:solidFill>
                  <a:srgbClr val="FFFFFF"/>
                </a:solidFill>
                <a:latin typeface="TT Interphases"/>
                <a:ea typeface="TT Interphases"/>
                <a:cs typeface="TT Interphases"/>
                <a:sym typeface="TT Interphases"/>
              </a:rPr>
              <a:t>Dificultades al integrar autenticación, datos y rutas dinámicas.</a:t>
            </a:r>
          </a:p>
          <a:p>
            <a:pPr algn="just" marL="575821" indent="-287911" lvl="1">
              <a:lnSpc>
                <a:spcPts val="4293"/>
              </a:lnSpc>
              <a:buFont typeface="Arial"/>
              <a:buChar char="•"/>
            </a:pPr>
            <a:r>
              <a:rPr lang="en-US" sz="2667">
                <a:solidFill>
                  <a:srgbClr val="FFFFFF"/>
                </a:solidFill>
                <a:latin typeface="TT Interphases"/>
                <a:ea typeface="TT Interphases"/>
                <a:cs typeface="TT Interphases"/>
                <a:sym typeface="TT Interphases"/>
              </a:rPr>
              <a:t>Problemas iniciales en la organización del backend (Firestore) y el frontend.</a:t>
            </a:r>
          </a:p>
          <a:p>
            <a:pPr algn="just" marL="575821" indent="-287911" lvl="1">
              <a:lnSpc>
                <a:spcPts val="4293"/>
              </a:lnSpc>
              <a:buFont typeface="Arial"/>
              <a:buChar char="•"/>
            </a:pPr>
            <a:r>
              <a:rPr lang="en-US" sz="2667">
                <a:solidFill>
                  <a:srgbClr val="FFFFFF"/>
                </a:solidFill>
                <a:latin typeface="TT Interphases"/>
                <a:ea typeface="TT Interphases"/>
                <a:cs typeface="TT Interphases"/>
                <a:sym typeface="TT Interphases"/>
              </a:rPr>
              <a:t>Errores recurrentes al implementar features como multimedia, notificaciones y logros.</a:t>
            </a:r>
          </a:p>
          <a:p>
            <a:pPr algn="just">
              <a:lnSpc>
                <a:spcPts val="4293"/>
              </a:lnSpc>
            </a:pPr>
          </a:p>
        </p:txBody>
      </p:sp>
      <p:sp>
        <p:nvSpPr>
          <p:cNvPr name="TextBox 7" id="7"/>
          <p:cNvSpPr txBox="true"/>
          <p:nvPr/>
        </p:nvSpPr>
        <p:spPr>
          <a:xfrm rot="0">
            <a:off x="4693146" y="2284388"/>
            <a:ext cx="8901708" cy="1190006"/>
          </a:xfrm>
          <a:prstGeom prst="rect">
            <a:avLst/>
          </a:prstGeom>
        </p:spPr>
        <p:txBody>
          <a:bodyPr anchor="t" rtlCol="false" tIns="0" lIns="0" bIns="0" rIns="0">
            <a:spAutoFit/>
          </a:bodyPr>
          <a:lstStyle/>
          <a:p>
            <a:pPr algn="ctr" marL="0" indent="0" lvl="0">
              <a:lnSpc>
                <a:spcPts val="9451"/>
              </a:lnSpc>
              <a:spcBef>
                <a:spcPct val="0"/>
              </a:spcBef>
            </a:pPr>
            <a:r>
              <a:rPr lang="en-US" b="true" sz="7621" spc="144">
                <a:solidFill>
                  <a:srgbClr val="FFFFFF"/>
                </a:solidFill>
                <a:latin typeface="Muli Heavy"/>
                <a:ea typeface="Muli Heavy"/>
                <a:cs typeface="Muli Heavy"/>
                <a:sym typeface="Muli Heavy"/>
              </a:rPr>
              <a:t>OBSTÁCULOS</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18666"/>
            </a:stretch>
          </a:blipFill>
        </p:spPr>
      </p:sp>
      <p:grpSp>
        <p:nvGrpSpPr>
          <p:cNvPr name="Group 3" id="3"/>
          <p:cNvGrpSpPr/>
          <p:nvPr/>
        </p:nvGrpSpPr>
        <p:grpSpPr>
          <a:xfrm rot="5400000">
            <a:off x="6215584" y="-1871099"/>
            <a:ext cx="6711098" cy="20298041"/>
            <a:chOff x="0" y="0"/>
            <a:chExt cx="1767532" cy="5345986"/>
          </a:xfrm>
        </p:grpSpPr>
        <p:sp>
          <p:nvSpPr>
            <p:cNvPr name="Freeform 4" id="4"/>
            <p:cNvSpPr/>
            <p:nvPr/>
          </p:nvSpPr>
          <p:spPr>
            <a:xfrm flipH="false" flipV="false" rot="0">
              <a:off x="0" y="0"/>
              <a:ext cx="1767532" cy="5345986"/>
            </a:xfrm>
            <a:custGeom>
              <a:avLst/>
              <a:gdLst/>
              <a:ahLst/>
              <a:cxnLst/>
              <a:rect r="r" b="b" t="t" l="l"/>
              <a:pathLst>
                <a:path h="5345986" w="1767532">
                  <a:moveTo>
                    <a:pt x="32301" y="0"/>
                  </a:moveTo>
                  <a:lnTo>
                    <a:pt x="1735231" y="0"/>
                  </a:lnTo>
                  <a:cubicBezTo>
                    <a:pt x="1743798" y="0"/>
                    <a:pt x="1752014" y="3403"/>
                    <a:pt x="1758071" y="9461"/>
                  </a:cubicBezTo>
                  <a:cubicBezTo>
                    <a:pt x="1764129" y="15518"/>
                    <a:pt x="1767532" y="23734"/>
                    <a:pt x="1767532" y="32301"/>
                  </a:cubicBezTo>
                  <a:lnTo>
                    <a:pt x="1767532" y="5313685"/>
                  </a:lnTo>
                  <a:cubicBezTo>
                    <a:pt x="1767532" y="5322252"/>
                    <a:pt x="1764129" y="5330468"/>
                    <a:pt x="1758071" y="5336525"/>
                  </a:cubicBezTo>
                  <a:cubicBezTo>
                    <a:pt x="1752014" y="5342583"/>
                    <a:pt x="1743798" y="5345986"/>
                    <a:pt x="1735231" y="5345986"/>
                  </a:cubicBezTo>
                  <a:lnTo>
                    <a:pt x="32301" y="5345986"/>
                  </a:lnTo>
                  <a:cubicBezTo>
                    <a:pt x="23734" y="5345986"/>
                    <a:pt x="15518" y="5342583"/>
                    <a:pt x="9461" y="5336525"/>
                  </a:cubicBezTo>
                  <a:cubicBezTo>
                    <a:pt x="3403" y="5330468"/>
                    <a:pt x="0" y="5322252"/>
                    <a:pt x="0" y="5313685"/>
                  </a:cubicBezTo>
                  <a:lnTo>
                    <a:pt x="0" y="32301"/>
                  </a:lnTo>
                  <a:cubicBezTo>
                    <a:pt x="0" y="23734"/>
                    <a:pt x="3403" y="15518"/>
                    <a:pt x="9461" y="9461"/>
                  </a:cubicBezTo>
                  <a:cubicBezTo>
                    <a:pt x="15518" y="3403"/>
                    <a:pt x="23734" y="0"/>
                    <a:pt x="32301" y="0"/>
                  </a:cubicBezTo>
                  <a:close/>
                </a:path>
              </a:pathLst>
            </a:custGeom>
            <a:solidFill>
              <a:srgbClr val="000A1F">
                <a:alpha val="60000"/>
              </a:srgbClr>
            </a:solidFill>
          </p:spPr>
        </p:sp>
        <p:sp>
          <p:nvSpPr>
            <p:cNvPr name="TextBox 5" id="5"/>
            <p:cNvSpPr txBox="true"/>
            <p:nvPr/>
          </p:nvSpPr>
          <p:spPr>
            <a:xfrm>
              <a:off x="0" y="-38100"/>
              <a:ext cx="1767532" cy="5384086"/>
            </a:xfrm>
            <a:prstGeom prst="rect">
              <a:avLst/>
            </a:prstGeom>
          </p:spPr>
          <p:txBody>
            <a:bodyPr anchor="ctr" rtlCol="false" tIns="50800" lIns="50800" bIns="50800" rIns="50800"/>
            <a:lstStyle/>
            <a:p>
              <a:pPr algn="ctr">
                <a:lnSpc>
                  <a:spcPts val="1774"/>
                </a:lnSpc>
              </a:pPr>
            </a:p>
          </p:txBody>
        </p:sp>
      </p:grpSp>
      <p:sp>
        <p:nvSpPr>
          <p:cNvPr name="TextBox 6" id="6"/>
          <p:cNvSpPr txBox="true"/>
          <p:nvPr/>
        </p:nvSpPr>
        <p:spPr>
          <a:xfrm rot="0">
            <a:off x="1028700" y="4299302"/>
            <a:ext cx="16230600" cy="1217565"/>
          </a:xfrm>
          <a:prstGeom prst="rect">
            <a:avLst/>
          </a:prstGeom>
        </p:spPr>
        <p:txBody>
          <a:bodyPr anchor="t" rtlCol="false" tIns="0" lIns="0" bIns="0" rIns="0">
            <a:spAutoFit/>
          </a:bodyPr>
          <a:lstStyle/>
          <a:p>
            <a:pPr algn="ctr" marL="0" indent="0" lvl="0">
              <a:lnSpc>
                <a:spcPts val="9699"/>
              </a:lnSpc>
              <a:spcBef>
                <a:spcPct val="0"/>
              </a:spcBef>
            </a:pPr>
            <a:r>
              <a:rPr lang="en-US" b="true" sz="7821" spc="148">
                <a:solidFill>
                  <a:srgbClr val="FFFFFF"/>
                </a:solidFill>
                <a:latin typeface="Muli Heavy"/>
                <a:ea typeface="Muli Heavy"/>
                <a:cs typeface="Muli Heavy"/>
                <a:sym typeface="Muli Heavy"/>
              </a:rPr>
              <a:t>PREGUNTAS DE LA COMISIÓN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DAG5vwn5ojw</dc:identifier>
  <dcterms:modified xsi:type="dcterms:W3CDTF">2011-08-01T06:04:30Z</dcterms:modified>
  <cp:revision>1</cp:revision>
  <dc:title>Proyecto</dc:title>
</cp:coreProperties>
</file>